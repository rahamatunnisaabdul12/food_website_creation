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EE216-A045-4DDE-9F9A-12E2C014D72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526E-412C-4CB4-B15B-9BA26C83A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526E-412C-4CB4-B15B-9BA26C83AE6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882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526E-412C-4CB4-B15B-9BA26C83AE6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891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28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94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444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46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53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53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812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16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61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8369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798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6962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816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880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29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FE602-6A4F-4868-8AD3-29948D062BB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72A1D46-B052-412A-B2FA-B1CAD84F3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93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5B39E-2885-E41D-49BA-8A6729D217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ETL &amp; AWS Data Pipeline Foundations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0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E7AD0D-7062-EC8E-DA05-BFE349EE128C}"/>
              </a:ext>
            </a:extLst>
          </p:cNvPr>
          <p:cNvSpPr txBox="1"/>
          <p:nvPr/>
        </p:nvSpPr>
        <p:spPr>
          <a:xfrm>
            <a:off x="368968" y="208547"/>
            <a:ext cx="930442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🧱 1️⃣ Classes in Python (For ETL Design)</a:t>
            </a:r>
          </a:p>
          <a:p>
            <a:pPr>
              <a:buNone/>
            </a:pPr>
            <a:r>
              <a:rPr lang="en-US" sz="3200" b="1" dirty="0"/>
              <a:t>📘 Definition: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3200" dirty="0"/>
              <a:t>A class in Python is a blueprint for creating objects.</a:t>
            </a:r>
            <a:br>
              <a:rPr lang="en-US" sz="3200" dirty="0"/>
            </a:br>
            <a:r>
              <a:rPr lang="en-US" sz="3200" dirty="0"/>
              <a:t>In ETL, classes help us organize transformation, persistence, and logging logic neatly.</a:t>
            </a:r>
            <a:br>
              <a:rPr lang="en-US" sz="3200" dirty="0"/>
            </a:br>
            <a:r>
              <a:rPr lang="en-US" sz="3200" dirty="0"/>
              <a:t>They allow you to reuse, extend, and test specific components — like </a:t>
            </a:r>
            <a:r>
              <a:rPr lang="en-US" sz="3200" dirty="0">
                <a:latin typeface="Courier New" panose="02070309020205020404" pitchFamily="49" charset="0"/>
              </a:rPr>
              <a:t>Transformer</a:t>
            </a:r>
            <a:r>
              <a:rPr lang="en-US" sz="3200" dirty="0"/>
              <a:t>, </a:t>
            </a:r>
            <a:r>
              <a:rPr lang="en-US" sz="3200" dirty="0">
                <a:latin typeface="Courier New" panose="02070309020205020404" pitchFamily="49" charset="0"/>
              </a:rPr>
              <a:t>S3PersistenceService</a:t>
            </a:r>
            <a:r>
              <a:rPr lang="en-US" sz="3200" dirty="0"/>
              <a:t>, or </a:t>
            </a:r>
            <a:r>
              <a:rPr lang="en-US" sz="3200" dirty="0" err="1">
                <a:latin typeface="Courier New" panose="02070309020205020404" pitchFamily="49" charset="0"/>
              </a:rPr>
              <a:t>ConfigLoader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663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B52C78-90E6-26BF-769B-A05355978A3E}"/>
              </a:ext>
            </a:extLst>
          </p:cNvPr>
          <p:cNvSpPr/>
          <p:nvPr/>
        </p:nvSpPr>
        <p:spPr>
          <a:xfrm>
            <a:off x="6096000" y="0"/>
            <a:ext cx="5336847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u="sng" dirty="0"/>
              <a:t>Example:</a:t>
            </a:r>
          </a:p>
          <a:p>
            <a:r>
              <a:rPr lang="en-IN" dirty="0">
                <a:solidFill>
                  <a:srgbClr val="7030A0"/>
                </a:solidFill>
              </a:rPr>
              <a:t>class </a:t>
            </a:r>
            <a:r>
              <a:rPr lang="en-IN" dirty="0" err="1">
                <a:solidFill>
                  <a:srgbClr val="7030A0"/>
                </a:solidFill>
              </a:rPr>
              <a:t>EmployeeTransformer</a:t>
            </a:r>
            <a:r>
              <a:rPr lang="en-IN" dirty="0">
                <a:solidFill>
                  <a:srgbClr val="7030A0"/>
                </a:solidFill>
              </a:rPr>
              <a:t>:</a:t>
            </a:r>
          </a:p>
          <a:p>
            <a:r>
              <a:rPr lang="en-IN" dirty="0">
                <a:solidFill>
                  <a:srgbClr val="7030A0"/>
                </a:solidFill>
              </a:rPr>
              <a:t>    def __</a:t>
            </a:r>
            <a:r>
              <a:rPr lang="en-IN" dirty="0" err="1">
                <a:solidFill>
                  <a:srgbClr val="7030A0"/>
                </a:solidFill>
              </a:rPr>
              <a:t>init</a:t>
            </a:r>
            <a:r>
              <a:rPr lang="en-IN" dirty="0">
                <a:solidFill>
                  <a:srgbClr val="7030A0"/>
                </a:solidFill>
              </a:rPr>
              <a:t>__(self, </a:t>
            </a:r>
            <a:r>
              <a:rPr lang="en-IN" dirty="0" err="1">
                <a:solidFill>
                  <a:srgbClr val="7030A0"/>
                </a:solidFill>
              </a:rPr>
              <a:t>json_data</a:t>
            </a:r>
            <a:r>
              <a:rPr lang="en-IN" dirty="0">
                <a:solidFill>
                  <a:srgbClr val="7030A0"/>
                </a:solidFill>
              </a:rPr>
              <a:t>):</a:t>
            </a:r>
          </a:p>
          <a:p>
            <a:r>
              <a:rPr lang="en-IN" dirty="0">
                <a:solidFill>
                  <a:srgbClr val="7030A0"/>
                </a:solidFill>
              </a:rPr>
              <a:t>        </a:t>
            </a:r>
            <a:r>
              <a:rPr lang="en-IN" dirty="0" err="1">
                <a:solidFill>
                  <a:srgbClr val="7030A0"/>
                </a:solidFill>
              </a:rPr>
              <a:t>self.data</a:t>
            </a:r>
            <a:r>
              <a:rPr lang="en-IN" dirty="0">
                <a:solidFill>
                  <a:srgbClr val="7030A0"/>
                </a:solidFill>
              </a:rPr>
              <a:t> = </a:t>
            </a:r>
            <a:r>
              <a:rPr lang="en-IN" dirty="0" err="1">
                <a:solidFill>
                  <a:srgbClr val="7030A0"/>
                </a:solidFill>
              </a:rPr>
              <a:t>json_data</a:t>
            </a:r>
            <a:endParaRPr lang="en-IN" dirty="0">
              <a:solidFill>
                <a:srgbClr val="7030A0"/>
              </a:solidFill>
            </a:endParaRP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    def </a:t>
            </a:r>
            <a:r>
              <a:rPr lang="en-IN" dirty="0" err="1">
                <a:solidFill>
                  <a:srgbClr val="7030A0"/>
                </a:solidFill>
              </a:rPr>
              <a:t>extract_roles</a:t>
            </a:r>
            <a:r>
              <a:rPr lang="en-IN" dirty="0">
                <a:solidFill>
                  <a:srgbClr val="7030A0"/>
                </a:solidFill>
              </a:rPr>
              <a:t>(self):</a:t>
            </a:r>
          </a:p>
          <a:p>
            <a:r>
              <a:rPr lang="en-IN" dirty="0">
                <a:solidFill>
                  <a:srgbClr val="7030A0"/>
                </a:solidFill>
              </a:rPr>
              <a:t>        roles = []</a:t>
            </a:r>
          </a:p>
          <a:p>
            <a:r>
              <a:rPr lang="en-IN" dirty="0">
                <a:solidFill>
                  <a:srgbClr val="7030A0"/>
                </a:solidFill>
              </a:rPr>
              <a:t>        for emp in </a:t>
            </a:r>
            <a:r>
              <a:rPr lang="en-IN" dirty="0" err="1">
                <a:solidFill>
                  <a:srgbClr val="7030A0"/>
                </a:solidFill>
              </a:rPr>
              <a:t>self.data</a:t>
            </a:r>
            <a:r>
              <a:rPr lang="en-IN" dirty="0">
                <a:solidFill>
                  <a:srgbClr val="7030A0"/>
                </a:solidFill>
              </a:rPr>
              <a:t>["employees"]:</a:t>
            </a:r>
          </a:p>
          <a:p>
            <a:r>
              <a:rPr lang="en-IN" dirty="0">
                <a:solidFill>
                  <a:srgbClr val="7030A0"/>
                </a:solidFill>
              </a:rPr>
              <a:t>            </a:t>
            </a:r>
            <a:r>
              <a:rPr lang="en-IN" dirty="0" err="1">
                <a:solidFill>
                  <a:srgbClr val="7030A0"/>
                </a:solidFill>
              </a:rPr>
              <a:t>roles.append</a:t>
            </a:r>
            <a:r>
              <a:rPr lang="en-IN" dirty="0">
                <a:solidFill>
                  <a:srgbClr val="7030A0"/>
                </a:solidFill>
              </a:rPr>
              <a:t>(emp["role"])</a:t>
            </a:r>
          </a:p>
          <a:p>
            <a:r>
              <a:rPr lang="en-IN" dirty="0">
                <a:solidFill>
                  <a:srgbClr val="7030A0"/>
                </a:solidFill>
              </a:rPr>
              <a:t>        return roles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# Sample JSON input</a:t>
            </a:r>
          </a:p>
          <a:p>
            <a:r>
              <a:rPr lang="en-IN" dirty="0">
                <a:solidFill>
                  <a:srgbClr val="7030A0"/>
                </a:solidFill>
              </a:rPr>
              <a:t>data = {</a:t>
            </a:r>
          </a:p>
          <a:p>
            <a:r>
              <a:rPr lang="en-IN" dirty="0">
                <a:solidFill>
                  <a:srgbClr val="7030A0"/>
                </a:solidFill>
              </a:rPr>
              <a:t>    "employees": [</a:t>
            </a:r>
          </a:p>
          <a:p>
            <a:r>
              <a:rPr lang="en-IN" dirty="0">
                <a:solidFill>
                  <a:srgbClr val="7030A0"/>
                </a:solidFill>
              </a:rPr>
              <a:t>        {"name": "Ravi", "role": "Manager"},</a:t>
            </a:r>
          </a:p>
          <a:p>
            <a:r>
              <a:rPr lang="en-IN" dirty="0">
                <a:solidFill>
                  <a:srgbClr val="7030A0"/>
                </a:solidFill>
              </a:rPr>
              <a:t>        {"name": "Anil", "role": "Engineer"}</a:t>
            </a:r>
          </a:p>
          <a:p>
            <a:r>
              <a:rPr lang="en-IN" dirty="0">
                <a:solidFill>
                  <a:srgbClr val="7030A0"/>
                </a:solidFill>
              </a:rPr>
              <a:t>    ]</a:t>
            </a:r>
          </a:p>
          <a:p>
            <a:r>
              <a:rPr lang="en-IN" dirty="0">
                <a:solidFill>
                  <a:srgbClr val="7030A0"/>
                </a:solidFill>
              </a:rPr>
              <a:t>}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transformer = </a:t>
            </a:r>
            <a:r>
              <a:rPr lang="en-IN" dirty="0" err="1">
                <a:solidFill>
                  <a:srgbClr val="7030A0"/>
                </a:solidFill>
              </a:rPr>
              <a:t>EmployeeTransformer</a:t>
            </a:r>
            <a:r>
              <a:rPr lang="en-IN" dirty="0">
                <a:solidFill>
                  <a:srgbClr val="7030A0"/>
                </a:solidFill>
              </a:rPr>
              <a:t>(data)</a:t>
            </a:r>
          </a:p>
          <a:p>
            <a:r>
              <a:rPr lang="en-IN" dirty="0">
                <a:solidFill>
                  <a:srgbClr val="7030A0"/>
                </a:solidFill>
              </a:rPr>
              <a:t>print(</a:t>
            </a:r>
            <a:r>
              <a:rPr lang="en-IN" dirty="0" err="1">
                <a:solidFill>
                  <a:srgbClr val="7030A0"/>
                </a:solidFill>
              </a:rPr>
              <a:t>transformer.extract_roles</a:t>
            </a:r>
            <a:r>
              <a:rPr lang="en-IN" dirty="0">
                <a:solidFill>
                  <a:srgbClr val="7030A0"/>
                </a:solidFill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B6350C-4E6D-383C-2FCA-CF4F7EDEF2D8}"/>
              </a:ext>
            </a:extLst>
          </p:cNvPr>
          <p:cNvSpPr txBox="1"/>
          <p:nvPr/>
        </p:nvSpPr>
        <p:spPr>
          <a:xfrm>
            <a:off x="196645" y="108155"/>
            <a:ext cx="54667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🧠 Explanation</a:t>
            </a:r>
          </a:p>
          <a:p>
            <a:r>
              <a:rPr lang="en-US" b="1" dirty="0"/>
              <a:t>class </a:t>
            </a:r>
            <a:r>
              <a:rPr lang="en-US" b="1" dirty="0" err="1"/>
              <a:t>EmployeeTransformer</a:t>
            </a:r>
            <a:r>
              <a:rPr lang="en-US" b="1" dirty="0"/>
              <a:t>:</a:t>
            </a:r>
            <a:r>
              <a:rPr lang="en-US" dirty="0"/>
              <a:t> — defines a reusable ETL transformer.</a:t>
            </a:r>
          </a:p>
          <a:p>
            <a:r>
              <a:rPr lang="en-US" b="1" dirty="0"/>
              <a:t>__</a:t>
            </a:r>
            <a:r>
              <a:rPr lang="en-US" b="1" dirty="0" err="1"/>
              <a:t>init</a:t>
            </a:r>
            <a:r>
              <a:rPr lang="en-US" b="1" dirty="0"/>
              <a:t>__:</a:t>
            </a:r>
            <a:r>
              <a:rPr lang="en-US" dirty="0"/>
              <a:t> constructor that receives </a:t>
            </a:r>
            <a:r>
              <a:rPr lang="en-US" dirty="0" err="1"/>
              <a:t>json_data</a:t>
            </a:r>
            <a:r>
              <a:rPr lang="en-US" dirty="0"/>
              <a:t>.</a:t>
            </a:r>
          </a:p>
          <a:p>
            <a:r>
              <a:rPr lang="en-US" b="1" dirty="0" err="1"/>
              <a:t>extract_roles</a:t>
            </a:r>
            <a:r>
              <a:rPr lang="en-US" b="1" dirty="0"/>
              <a:t>:</a:t>
            </a:r>
            <a:r>
              <a:rPr lang="en-US" dirty="0"/>
              <a:t> a custom transformation — here we’re looping through the JSON list and collecting role values.</a:t>
            </a:r>
          </a:p>
          <a:p>
            <a:r>
              <a:rPr lang="en-US" b="1" dirty="0"/>
              <a:t>transformer = </a:t>
            </a:r>
            <a:r>
              <a:rPr lang="en-US" b="1" dirty="0" err="1"/>
              <a:t>EmployeeTransformer</a:t>
            </a:r>
            <a:r>
              <a:rPr lang="en-US" b="1" dirty="0"/>
              <a:t>(data)</a:t>
            </a:r>
            <a:r>
              <a:rPr lang="en-US" dirty="0"/>
              <a:t> — creates an instance of the class with our JSON input.</a:t>
            </a:r>
          </a:p>
          <a:p>
            <a:r>
              <a:rPr lang="en-US" b="1" dirty="0"/>
              <a:t>print(</a:t>
            </a:r>
            <a:r>
              <a:rPr lang="en-US" b="1" dirty="0" err="1"/>
              <a:t>transformer.extract_roles</a:t>
            </a:r>
            <a:r>
              <a:rPr lang="en-US" b="1" dirty="0"/>
              <a:t>())</a:t>
            </a:r>
            <a:r>
              <a:rPr lang="en-US" dirty="0"/>
              <a:t> — outputs a list of roles:</a:t>
            </a:r>
            <a:br>
              <a:rPr lang="en-US" dirty="0"/>
            </a:br>
            <a:r>
              <a:rPr lang="en-US" dirty="0"/>
              <a:t>👉 ['Manager', 'Engineer']</a:t>
            </a:r>
          </a:p>
          <a:p>
            <a:r>
              <a:rPr lang="en-US" dirty="0"/>
              <a:t>This is how your </a:t>
            </a:r>
            <a:r>
              <a:rPr lang="en-US" b="1" dirty="0"/>
              <a:t>ETL transformers</a:t>
            </a:r>
            <a:r>
              <a:rPr lang="en-US" dirty="0"/>
              <a:t> or </a:t>
            </a:r>
            <a:r>
              <a:rPr lang="en-US" b="1" dirty="0"/>
              <a:t>extractor classes</a:t>
            </a:r>
            <a:r>
              <a:rPr lang="en-US" dirty="0"/>
              <a:t> behave — each class encapsulates a specific job.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874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075BEA-AD60-15A6-B442-C1DD996510B2}"/>
              </a:ext>
            </a:extLst>
          </p:cNvPr>
          <p:cNvSpPr/>
          <p:nvPr/>
        </p:nvSpPr>
        <p:spPr>
          <a:xfrm>
            <a:off x="6304549" y="693445"/>
            <a:ext cx="5646819" cy="39106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Example:</a:t>
            </a:r>
          </a:p>
          <a:p>
            <a:endParaRPr lang="en-IN" b="1" dirty="0"/>
          </a:p>
          <a:p>
            <a:r>
              <a:rPr lang="en-IN" sz="2000" dirty="0">
                <a:solidFill>
                  <a:srgbClr val="7030A0"/>
                </a:solidFill>
              </a:rPr>
              <a:t>import logging</a:t>
            </a:r>
          </a:p>
          <a:p>
            <a:endParaRPr lang="en-IN" sz="2000" dirty="0">
              <a:solidFill>
                <a:srgbClr val="7030A0"/>
              </a:solidFill>
            </a:endParaRPr>
          </a:p>
          <a:p>
            <a:r>
              <a:rPr lang="en-IN" sz="2000" dirty="0" err="1">
                <a:solidFill>
                  <a:srgbClr val="7030A0"/>
                </a:solidFill>
              </a:rPr>
              <a:t>logging.basicConfig</a:t>
            </a:r>
            <a:r>
              <a:rPr lang="en-IN" sz="2000" dirty="0">
                <a:solidFill>
                  <a:srgbClr val="7030A0"/>
                </a:solidFill>
              </a:rPr>
              <a:t>(level=logging.INFO)</a:t>
            </a:r>
          </a:p>
          <a:p>
            <a:endParaRPr lang="en-IN" sz="2000" dirty="0">
              <a:solidFill>
                <a:srgbClr val="7030A0"/>
              </a:solidFill>
            </a:endParaRPr>
          </a:p>
          <a:p>
            <a:r>
              <a:rPr lang="en-IN" sz="2000" dirty="0">
                <a:solidFill>
                  <a:srgbClr val="7030A0"/>
                </a:solidFill>
              </a:rPr>
              <a:t>try:</a:t>
            </a:r>
          </a:p>
          <a:p>
            <a:r>
              <a:rPr lang="en-IN" sz="2000" dirty="0">
                <a:solidFill>
                  <a:srgbClr val="7030A0"/>
                </a:solidFill>
              </a:rPr>
              <a:t>    employee = {"name": "Ravi"}</a:t>
            </a:r>
          </a:p>
          <a:p>
            <a:r>
              <a:rPr lang="en-IN" sz="2000" dirty="0">
                <a:solidFill>
                  <a:srgbClr val="7030A0"/>
                </a:solidFill>
              </a:rPr>
              <a:t>    role = employee["role"]  # key does not exist</a:t>
            </a:r>
          </a:p>
          <a:p>
            <a:r>
              <a:rPr lang="en-IN" sz="2000" dirty="0">
                <a:solidFill>
                  <a:srgbClr val="7030A0"/>
                </a:solidFill>
              </a:rPr>
              <a:t>except </a:t>
            </a:r>
            <a:r>
              <a:rPr lang="en-IN" sz="2000" dirty="0" err="1">
                <a:solidFill>
                  <a:srgbClr val="7030A0"/>
                </a:solidFill>
              </a:rPr>
              <a:t>KeyError</a:t>
            </a:r>
            <a:r>
              <a:rPr lang="en-IN" sz="2000" dirty="0">
                <a:solidFill>
                  <a:srgbClr val="7030A0"/>
                </a:solidFill>
              </a:rPr>
              <a:t> as e:</a:t>
            </a:r>
          </a:p>
          <a:p>
            <a:r>
              <a:rPr lang="en-IN" sz="2000" dirty="0">
                <a:solidFill>
                  <a:srgbClr val="7030A0"/>
                </a:solidFill>
              </a:rPr>
              <a:t>    </a:t>
            </a:r>
            <a:r>
              <a:rPr lang="en-IN" sz="2000" dirty="0" err="1">
                <a:solidFill>
                  <a:srgbClr val="7030A0"/>
                </a:solidFill>
              </a:rPr>
              <a:t>logging.error</a:t>
            </a:r>
            <a:r>
              <a:rPr lang="en-IN" sz="2000" dirty="0">
                <a:solidFill>
                  <a:srgbClr val="7030A0"/>
                </a:solidFill>
              </a:rPr>
              <a:t>(</a:t>
            </a:r>
            <a:r>
              <a:rPr lang="en-IN" sz="2000" dirty="0" err="1">
                <a:solidFill>
                  <a:srgbClr val="7030A0"/>
                </a:solidFill>
              </a:rPr>
              <a:t>f"Missing</a:t>
            </a:r>
            <a:r>
              <a:rPr lang="en-IN" sz="2000" dirty="0">
                <a:solidFill>
                  <a:srgbClr val="7030A0"/>
                </a:solidFill>
              </a:rPr>
              <a:t> key in JSON: {e}")</a:t>
            </a:r>
          </a:p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7AFFA-AF77-FFDE-F9A5-19BE1E9892AC}"/>
              </a:ext>
            </a:extLst>
          </p:cNvPr>
          <p:cNvSpPr txBox="1"/>
          <p:nvPr/>
        </p:nvSpPr>
        <p:spPr>
          <a:xfrm>
            <a:off x="401053" y="433137"/>
            <a:ext cx="54864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⚙️ 2️⃣ Error Handling (try/except) </a:t>
            </a:r>
            <a:r>
              <a:rPr lang="en-IN" sz="2000" b="1" dirty="0"/>
              <a:t>with Logging</a:t>
            </a:r>
          </a:p>
          <a:p>
            <a:r>
              <a:rPr lang="en-IN" sz="2000" b="1" dirty="0"/>
              <a:t>📘 Definition:</a:t>
            </a:r>
          </a:p>
          <a:p>
            <a:endParaRPr lang="en-IN" sz="2000" b="1" dirty="0"/>
          </a:p>
          <a:p>
            <a:r>
              <a:rPr lang="en-IN" sz="2000" dirty="0"/>
              <a:t>Error handling ensures your ETL doesn’t fail silently.</a:t>
            </a:r>
            <a:br>
              <a:rPr lang="en-IN" sz="2000" dirty="0"/>
            </a:br>
            <a:r>
              <a:rPr lang="en-IN" sz="2000" dirty="0"/>
              <a:t>By using try/except with logging, we capture both </a:t>
            </a:r>
            <a:r>
              <a:rPr lang="en-IN" sz="2000" b="1" dirty="0"/>
              <a:t>functional errors (like </a:t>
            </a:r>
            <a:r>
              <a:rPr lang="en-IN" sz="2000" b="1" dirty="0" err="1"/>
              <a:t>KeyError</a:t>
            </a:r>
            <a:r>
              <a:rPr lang="en-IN" sz="2000" b="1" dirty="0"/>
              <a:t>, </a:t>
            </a:r>
            <a:r>
              <a:rPr lang="en-IN" sz="2000" b="1" dirty="0" err="1"/>
              <a:t>ValueError</a:t>
            </a:r>
            <a:r>
              <a:rPr lang="en-IN" sz="2000" b="1" dirty="0"/>
              <a:t>)</a:t>
            </a:r>
            <a:r>
              <a:rPr lang="en-IN" sz="2000" dirty="0"/>
              <a:t> and </a:t>
            </a:r>
            <a:r>
              <a:rPr lang="en-IN" sz="2000" b="1" dirty="0"/>
              <a:t>system errors (like S3 upload failure)</a:t>
            </a:r>
            <a:r>
              <a:rPr lang="en-IN" sz="2000" dirty="0"/>
              <a:t>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365136-330A-04DD-13A0-6FB8F00D73D0}"/>
              </a:ext>
            </a:extLst>
          </p:cNvPr>
          <p:cNvSpPr txBox="1"/>
          <p:nvPr/>
        </p:nvSpPr>
        <p:spPr>
          <a:xfrm>
            <a:off x="401052" y="4126456"/>
            <a:ext cx="1179094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🧠 Explanation</a:t>
            </a:r>
          </a:p>
          <a:p>
            <a:r>
              <a:rPr lang="en-US" sz="2000" dirty="0"/>
              <a:t>try: — runs code that might fail.</a:t>
            </a:r>
          </a:p>
          <a:p>
            <a:r>
              <a:rPr lang="en-US" sz="2000" dirty="0"/>
              <a:t>employee["role"] → </a:t>
            </a:r>
            <a:r>
              <a:rPr lang="en-US" sz="2000" dirty="0" err="1"/>
              <a:t>KeyError</a:t>
            </a:r>
            <a:r>
              <a:rPr lang="en-US" sz="2000" dirty="0"/>
              <a:t> occurs because key "role" is missing.</a:t>
            </a:r>
          </a:p>
          <a:p>
            <a:r>
              <a:rPr lang="en-US" sz="2000" dirty="0"/>
              <a:t>except </a:t>
            </a:r>
            <a:r>
              <a:rPr lang="en-US" sz="2000" dirty="0" err="1"/>
              <a:t>KeyError</a:t>
            </a:r>
            <a:r>
              <a:rPr lang="en-US" sz="2000" dirty="0"/>
              <a:t> as e: catches that exception.</a:t>
            </a:r>
          </a:p>
          <a:p>
            <a:r>
              <a:rPr lang="en-US" sz="2000" dirty="0" err="1"/>
              <a:t>logging.error</a:t>
            </a:r>
            <a:r>
              <a:rPr lang="en-US" sz="2000" dirty="0"/>
              <a:t>() writes the message to logs instead of crashing the program.</a:t>
            </a:r>
          </a:p>
          <a:p>
            <a:r>
              <a:rPr lang="en-US" sz="2000" dirty="0"/>
              <a:t>✅ </a:t>
            </a:r>
            <a:r>
              <a:rPr lang="en-US" sz="2000" b="1" dirty="0"/>
              <a:t>Why it matters in ETL:</a:t>
            </a:r>
            <a:br>
              <a:rPr lang="en-US" sz="2000" dirty="0"/>
            </a:br>
            <a:r>
              <a:rPr lang="en-US" sz="2000" dirty="0"/>
              <a:t>When processing 1,000+ records, one bad record should log an error and continue, not crash the pipeline.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245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16D3F1-ADE3-B30A-3EA5-417AF5908AA4}"/>
              </a:ext>
            </a:extLst>
          </p:cNvPr>
          <p:cNvSpPr/>
          <p:nvPr/>
        </p:nvSpPr>
        <p:spPr>
          <a:xfrm>
            <a:off x="6721641" y="21918"/>
            <a:ext cx="5293896" cy="35394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000" dirty="0"/>
          </a:p>
          <a:p>
            <a:r>
              <a:rPr lang="en-IN" sz="2000" dirty="0"/>
              <a:t>Example:</a:t>
            </a:r>
            <a:br>
              <a:rPr lang="en-IN" sz="2000" dirty="0"/>
            </a:br>
            <a:r>
              <a:rPr lang="en-IN" sz="2000" dirty="0">
                <a:solidFill>
                  <a:srgbClr val="7030A0"/>
                </a:solidFill>
              </a:rPr>
              <a:t>import pandas as pd</a:t>
            </a:r>
          </a:p>
          <a:p>
            <a:endParaRPr lang="en-IN" sz="2000" dirty="0">
              <a:solidFill>
                <a:srgbClr val="7030A0"/>
              </a:solidFill>
            </a:endParaRPr>
          </a:p>
          <a:p>
            <a:r>
              <a:rPr lang="en-IN" sz="2000" dirty="0" err="1">
                <a:solidFill>
                  <a:srgbClr val="7030A0"/>
                </a:solidFill>
              </a:rPr>
              <a:t>df</a:t>
            </a:r>
            <a:r>
              <a:rPr lang="en-IN" sz="2000" dirty="0">
                <a:solidFill>
                  <a:srgbClr val="7030A0"/>
                </a:solidFill>
              </a:rPr>
              <a:t> = </a:t>
            </a:r>
            <a:r>
              <a:rPr lang="en-IN" sz="2000" dirty="0" err="1">
                <a:solidFill>
                  <a:srgbClr val="7030A0"/>
                </a:solidFill>
              </a:rPr>
              <a:t>pd.DataFrame</a:t>
            </a:r>
            <a:r>
              <a:rPr lang="en-IN" sz="2000" dirty="0">
                <a:solidFill>
                  <a:srgbClr val="7030A0"/>
                </a:solidFill>
              </a:rPr>
              <a:t>([</a:t>
            </a:r>
          </a:p>
          <a:p>
            <a:r>
              <a:rPr lang="en-IN" sz="2000" dirty="0">
                <a:solidFill>
                  <a:srgbClr val="7030A0"/>
                </a:solidFill>
              </a:rPr>
              <a:t>    {"name": "Ravi", "role": "Manager"},</a:t>
            </a:r>
          </a:p>
          <a:p>
            <a:r>
              <a:rPr lang="en-IN" sz="2000" dirty="0">
                <a:solidFill>
                  <a:srgbClr val="7030A0"/>
                </a:solidFill>
              </a:rPr>
              <a:t>    {"name": "Anil", "role": "Engineer"}</a:t>
            </a:r>
          </a:p>
          <a:p>
            <a:r>
              <a:rPr lang="en-IN" sz="2000" dirty="0">
                <a:solidFill>
                  <a:srgbClr val="7030A0"/>
                </a:solidFill>
              </a:rPr>
              <a:t>])</a:t>
            </a:r>
          </a:p>
          <a:p>
            <a:endParaRPr lang="en-IN" sz="2000" dirty="0">
              <a:solidFill>
                <a:srgbClr val="7030A0"/>
              </a:solidFill>
            </a:endParaRPr>
          </a:p>
          <a:p>
            <a:r>
              <a:rPr lang="en-IN" sz="2000" dirty="0" err="1">
                <a:solidFill>
                  <a:srgbClr val="7030A0"/>
                </a:solidFill>
              </a:rPr>
              <a:t>df.to_csv</a:t>
            </a:r>
            <a:r>
              <a:rPr lang="en-IN" sz="2000" dirty="0">
                <a:solidFill>
                  <a:srgbClr val="7030A0"/>
                </a:solidFill>
              </a:rPr>
              <a:t>("employees.csv", index=False)</a:t>
            </a:r>
          </a:p>
          <a:p>
            <a:r>
              <a:rPr lang="en-IN" sz="2000" dirty="0" err="1">
                <a:solidFill>
                  <a:srgbClr val="7030A0"/>
                </a:solidFill>
              </a:rPr>
              <a:t>df.to_parquet</a:t>
            </a:r>
            <a:r>
              <a:rPr lang="en-IN" sz="2000" dirty="0">
                <a:solidFill>
                  <a:srgbClr val="7030A0"/>
                </a:solidFill>
              </a:rPr>
              <a:t>("</a:t>
            </a:r>
            <a:r>
              <a:rPr lang="en-IN" sz="2000" dirty="0" err="1">
                <a:solidFill>
                  <a:srgbClr val="7030A0"/>
                </a:solidFill>
              </a:rPr>
              <a:t>employees.parquet</a:t>
            </a:r>
            <a:r>
              <a:rPr lang="en-IN" sz="2000" dirty="0">
                <a:solidFill>
                  <a:srgbClr val="7030A0"/>
                </a:solidFill>
              </a:rPr>
              <a:t>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399E1-0A7E-6489-8762-965A4743D21B}"/>
              </a:ext>
            </a:extLst>
          </p:cNvPr>
          <p:cNvSpPr txBox="1"/>
          <p:nvPr/>
        </p:nvSpPr>
        <p:spPr>
          <a:xfrm>
            <a:off x="0" y="288758"/>
            <a:ext cx="672164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🧾 3️⃣ Exporting Data (</a:t>
            </a:r>
            <a:r>
              <a:rPr lang="en-IN" sz="2800" b="1" dirty="0" err="1"/>
              <a:t>to_csv</a:t>
            </a:r>
            <a:r>
              <a:rPr lang="en-IN" sz="2800" b="1" dirty="0"/>
              <a:t>, </a:t>
            </a:r>
            <a:r>
              <a:rPr lang="en-IN" sz="2800" b="1" dirty="0" err="1"/>
              <a:t>to_parquet</a:t>
            </a:r>
            <a:r>
              <a:rPr lang="en-IN" sz="2800" b="1" dirty="0"/>
              <a:t>)</a:t>
            </a:r>
          </a:p>
          <a:p>
            <a:pPr>
              <a:buNone/>
            </a:pPr>
            <a:r>
              <a:rPr lang="en-IN" sz="2800" b="1" dirty="0"/>
              <a:t>📘 Definition:</a:t>
            </a:r>
          </a:p>
          <a:p>
            <a:pPr>
              <a:buNone/>
            </a:pPr>
            <a:r>
              <a:rPr lang="en-IN" sz="2000" dirty="0"/>
              <a:t>After transformation, data is exported to files like </a:t>
            </a:r>
            <a:r>
              <a:rPr lang="en-IN" sz="2000" b="1" dirty="0"/>
              <a:t>CSV</a:t>
            </a:r>
            <a:r>
              <a:rPr lang="en-IN" sz="2000" dirty="0"/>
              <a:t> or </a:t>
            </a:r>
            <a:r>
              <a:rPr lang="en-IN" sz="2000" b="1" dirty="0"/>
              <a:t>Parquet</a:t>
            </a:r>
            <a:r>
              <a:rPr lang="en-IN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CSV:</a:t>
            </a:r>
            <a:r>
              <a:rPr lang="en-IN" sz="2000" dirty="0"/>
              <a:t> readable, good for debugging.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Parquet:</a:t>
            </a:r>
            <a:r>
              <a:rPr lang="en-IN" sz="2000" dirty="0"/>
              <a:t> compressed, faster for analytics.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7ADF4-1FB9-272D-4571-5A054550100B}"/>
              </a:ext>
            </a:extLst>
          </p:cNvPr>
          <p:cNvSpPr txBox="1"/>
          <p:nvPr/>
        </p:nvSpPr>
        <p:spPr>
          <a:xfrm>
            <a:off x="176463" y="3417920"/>
            <a:ext cx="112776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🧠 Explanation</a:t>
            </a:r>
          </a:p>
          <a:p>
            <a:endParaRPr lang="en-IN" sz="2400" b="1" dirty="0"/>
          </a:p>
          <a:p>
            <a:r>
              <a:rPr lang="en-IN" sz="2000" dirty="0"/>
              <a:t>Creates a </a:t>
            </a:r>
            <a:r>
              <a:rPr lang="en-IN" sz="2000" dirty="0" err="1"/>
              <a:t>DataFrame</a:t>
            </a:r>
            <a:r>
              <a:rPr lang="en-IN" sz="2000" dirty="0"/>
              <a:t> from JSON-like records.</a:t>
            </a:r>
          </a:p>
          <a:p>
            <a:r>
              <a:rPr lang="en-IN" sz="2000" dirty="0"/>
              <a:t>Saves as employees.csv → readable in Excel.</a:t>
            </a:r>
          </a:p>
          <a:p>
            <a:r>
              <a:rPr lang="en-IN" sz="2000" dirty="0"/>
              <a:t>Saves as </a:t>
            </a:r>
            <a:r>
              <a:rPr lang="en-IN" sz="2000" dirty="0" err="1"/>
              <a:t>employees.parquet</a:t>
            </a:r>
            <a:r>
              <a:rPr lang="en-IN" sz="2000" dirty="0"/>
              <a:t> → optimized for AWS analytics tools like Athena or Glue.</a:t>
            </a:r>
          </a:p>
          <a:p>
            <a:r>
              <a:rPr lang="en-IN" sz="2000" dirty="0"/>
              <a:t>The index=False removes the pandas index column from the file.</a:t>
            </a:r>
          </a:p>
          <a:p>
            <a:r>
              <a:rPr lang="en-IN" sz="2000" dirty="0"/>
              <a:t>✅ </a:t>
            </a:r>
            <a:r>
              <a:rPr lang="en-IN" sz="2000" b="1" dirty="0"/>
              <a:t>ETL Tip:</a:t>
            </a:r>
            <a:br>
              <a:rPr lang="en-IN" sz="2000" dirty="0"/>
            </a:br>
            <a:r>
              <a:rPr lang="en-IN" sz="2000" dirty="0"/>
              <a:t>Always keep both formats during testing — CSV for validation, Parquet for production.</a:t>
            </a:r>
          </a:p>
          <a:p>
            <a:br>
              <a:rPr lang="en-IN" sz="2400" dirty="0"/>
            </a:b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113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22B653-DEF5-AFD0-B6E3-2FB24643EEFD}"/>
              </a:ext>
            </a:extLst>
          </p:cNvPr>
          <p:cNvSpPr/>
          <p:nvPr/>
        </p:nvSpPr>
        <p:spPr>
          <a:xfrm>
            <a:off x="7459580" y="0"/>
            <a:ext cx="473242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7030A0"/>
                </a:solidFill>
              </a:rPr>
              <a:t>import </a:t>
            </a:r>
            <a:r>
              <a:rPr lang="en-IN" dirty="0" err="1">
                <a:solidFill>
                  <a:srgbClr val="7030A0"/>
                </a:solidFill>
              </a:rPr>
              <a:t>json</a:t>
            </a:r>
            <a:endParaRPr lang="en-IN" dirty="0">
              <a:solidFill>
                <a:srgbClr val="7030A0"/>
              </a:solidFill>
            </a:endParaRP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 err="1">
                <a:solidFill>
                  <a:srgbClr val="7030A0"/>
                </a:solidFill>
              </a:rPr>
              <a:t>api_response</a:t>
            </a:r>
            <a:r>
              <a:rPr lang="en-IN" dirty="0">
                <a:solidFill>
                  <a:srgbClr val="7030A0"/>
                </a:solidFill>
              </a:rPr>
              <a:t> = '''</a:t>
            </a:r>
          </a:p>
          <a:p>
            <a:r>
              <a:rPr lang="en-IN" dirty="0">
                <a:solidFill>
                  <a:srgbClr val="7030A0"/>
                </a:solidFill>
              </a:rPr>
              <a:t>{</a:t>
            </a:r>
          </a:p>
          <a:p>
            <a:r>
              <a:rPr lang="en-IN" dirty="0">
                <a:solidFill>
                  <a:srgbClr val="7030A0"/>
                </a:solidFill>
              </a:rPr>
              <a:t>  "employees": [</a:t>
            </a:r>
          </a:p>
          <a:p>
            <a:r>
              <a:rPr lang="en-IN" dirty="0">
                <a:solidFill>
                  <a:srgbClr val="7030A0"/>
                </a:solidFill>
              </a:rPr>
              <a:t>    {"id": 1, "name": "Ravi", "role": {"title": "Manager", "level": 2}},</a:t>
            </a:r>
          </a:p>
          <a:p>
            <a:r>
              <a:rPr lang="en-IN" dirty="0">
                <a:solidFill>
                  <a:srgbClr val="7030A0"/>
                </a:solidFill>
              </a:rPr>
              <a:t>    {"id": 2, "name": "Anil", "role": {"title": "Engineer", "level": 1}}</a:t>
            </a:r>
          </a:p>
          <a:p>
            <a:r>
              <a:rPr lang="en-IN" dirty="0">
                <a:solidFill>
                  <a:srgbClr val="7030A0"/>
                </a:solidFill>
              </a:rPr>
              <a:t>  ]</a:t>
            </a:r>
          </a:p>
          <a:p>
            <a:r>
              <a:rPr lang="en-IN" dirty="0">
                <a:solidFill>
                  <a:srgbClr val="7030A0"/>
                </a:solidFill>
              </a:rPr>
              <a:t>}</a:t>
            </a:r>
          </a:p>
          <a:p>
            <a:r>
              <a:rPr lang="en-IN" dirty="0">
                <a:solidFill>
                  <a:srgbClr val="7030A0"/>
                </a:solidFill>
              </a:rPr>
              <a:t>'''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data = </a:t>
            </a:r>
            <a:r>
              <a:rPr lang="en-IN" dirty="0" err="1">
                <a:solidFill>
                  <a:srgbClr val="7030A0"/>
                </a:solidFill>
              </a:rPr>
              <a:t>json.loads</a:t>
            </a:r>
            <a:r>
              <a:rPr lang="en-IN" dirty="0">
                <a:solidFill>
                  <a:srgbClr val="7030A0"/>
                </a:solidFill>
              </a:rPr>
              <a:t>(</a:t>
            </a:r>
            <a:r>
              <a:rPr lang="en-IN" dirty="0" err="1">
                <a:solidFill>
                  <a:srgbClr val="7030A0"/>
                </a:solidFill>
              </a:rPr>
              <a:t>api_response</a:t>
            </a:r>
            <a:r>
              <a:rPr lang="en-IN" dirty="0">
                <a:solidFill>
                  <a:srgbClr val="7030A0"/>
                </a:solidFill>
              </a:rPr>
              <a:t>)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 err="1">
                <a:solidFill>
                  <a:srgbClr val="7030A0"/>
                </a:solidFill>
              </a:rPr>
              <a:t>flat_rows</a:t>
            </a:r>
            <a:r>
              <a:rPr lang="en-IN" dirty="0">
                <a:solidFill>
                  <a:srgbClr val="7030A0"/>
                </a:solidFill>
              </a:rPr>
              <a:t> = []</a:t>
            </a:r>
          </a:p>
          <a:p>
            <a:r>
              <a:rPr lang="en-IN" dirty="0">
                <a:solidFill>
                  <a:srgbClr val="7030A0"/>
                </a:solidFill>
              </a:rPr>
              <a:t>for emp in data["employees"]:</a:t>
            </a:r>
          </a:p>
          <a:p>
            <a:r>
              <a:rPr lang="en-IN" dirty="0">
                <a:solidFill>
                  <a:srgbClr val="7030A0"/>
                </a:solidFill>
              </a:rPr>
              <a:t>    </a:t>
            </a:r>
            <a:r>
              <a:rPr lang="en-IN" dirty="0" err="1">
                <a:solidFill>
                  <a:srgbClr val="7030A0"/>
                </a:solidFill>
              </a:rPr>
              <a:t>flat_rows.append</a:t>
            </a:r>
            <a:r>
              <a:rPr lang="en-IN" dirty="0">
                <a:solidFill>
                  <a:srgbClr val="7030A0"/>
                </a:solidFill>
              </a:rPr>
              <a:t>({</a:t>
            </a:r>
          </a:p>
          <a:p>
            <a:r>
              <a:rPr lang="en-IN" dirty="0">
                <a:solidFill>
                  <a:srgbClr val="7030A0"/>
                </a:solidFill>
              </a:rPr>
              <a:t>        "id": emp["id"],</a:t>
            </a:r>
          </a:p>
          <a:p>
            <a:r>
              <a:rPr lang="en-IN" dirty="0">
                <a:solidFill>
                  <a:srgbClr val="7030A0"/>
                </a:solidFill>
              </a:rPr>
              <a:t>        "name": emp["name"],</a:t>
            </a:r>
          </a:p>
          <a:p>
            <a:r>
              <a:rPr lang="en-IN" dirty="0">
                <a:solidFill>
                  <a:srgbClr val="7030A0"/>
                </a:solidFill>
              </a:rPr>
              <a:t>        "</a:t>
            </a:r>
            <a:r>
              <a:rPr lang="en-IN" dirty="0" err="1">
                <a:solidFill>
                  <a:srgbClr val="7030A0"/>
                </a:solidFill>
              </a:rPr>
              <a:t>role_title</a:t>
            </a:r>
            <a:r>
              <a:rPr lang="en-IN" dirty="0">
                <a:solidFill>
                  <a:srgbClr val="7030A0"/>
                </a:solidFill>
              </a:rPr>
              <a:t>": emp["role"]["title"]</a:t>
            </a:r>
          </a:p>
          <a:p>
            <a:r>
              <a:rPr lang="en-IN" dirty="0">
                <a:solidFill>
                  <a:srgbClr val="7030A0"/>
                </a:solidFill>
              </a:rPr>
              <a:t>    })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print(</a:t>
            </a:r>
            <a:r>
              <a:rPr lang="en-IN" dirty="0" err="1">
                <a:solidFill>
                  <a:srgbClr val="7030A0"/>
                </a:solidFill>
              </a:rPr>
              <a:t>flat_rows</a:t>
            </a:r>
            <a:r>
              <a:rPr lang="en-IN" dirty="0">
                <a:solidFill>
                  <a:srgbClr val="7030A0"/>
                </a:solidFill>
              </a:rPr>
              <a:t>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2B8A1-A324-CE30-8C7E-0A28867BB54C}"/>
              </a:ext>
            </a:extLst>
          </p:cNvPr>
          <p:cNvSpPr txBox="1"/>
          <p:nvPr/>
        </p:nvSpPr>
        <p:spPr>
          <a:xfrm>
            <a:off x="0" y="256674"/>
            <a:ext cx="7459579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🌐 4️⃣ JSON &amp; APIs</a:t>
            </a:r>
          </a:p>
          <a:p>
            <a:pPr>
              <a:buNone/>
            </a:pPr>
            <a:r>
              <a:rPr lang="en-IN" sz="2400" b="1" dirty="0"/>
              <a:t>📘 Definition</a:t>
            </a:r>
          </a:p>
          <a:p>
            <a:pPr>
              <a:buNone/>
            </a:pPr>
            <a:r>
              <a:rPr lang="en-IN" sz="2000" dirty="0"/>
              <a:t>JSON (JavaScript Object Notation) is a data format commonly used in </a:t>
            </a:r>
            <a:r>
              <a:rPr lang="en-IN" sz="2000" b="1" dirty="0"/>
              <a:t>APIs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dirty="0"/>
              <a:t>In ETL, we often: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Parse JSON API responses.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Navigate nested keys.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Flatten JSON into tabular data for pandas.</a:t>
            </a:r>
          </a:p>
          <a:p>
            <a:endParaRPr lang="en-IN" sz="2000" dirty="0"/>
          </a:p>
          <a:p>
            <a:r>
              <a:rPr lang="en-IN" sz="2400" b="1" u="sng" dirty="0"/>
              <a:t>Explanation:</a:t>
            </a:r>
          </a:p>
          <a:p>
            <a:endParaRPr lang="en-IN" sz="2400" b="1" u="sng" dirty="0"/>
          </a:p>
          <a:p>
            <a:r>
              <a:rPr lang="en-IN" sz="2000" b="1" dirty="0" err="1"/>
              <a:t>json.loads</a:t>
            </a:r>
            <a:r>
              <a:rPr lang="en-IN" sz="2000" b="1" dirty="0"/>
              <a:t>()</a:t>
            </a:r>
            <a:r>
              <a:rPr lang="en-IN" sz="2000" dirty="0"/>
              <a:t> parses the JSON string into a Python dictionary.</a:t>
            </a:r>
          </a:p>
          <a:p>
            <a:r>
              <a:rPr lang="en-IN" sz="2000" dirty="0"/>
              <a:t>The </a:t>
            </a:r>
            <a:r>
              <a:rPr lang="en-IN" sz="2000" b="1" dirty="0"/>
              <a:t>nested key</a:t>
            </a:r>
            <a:r>
              <a:rPr lang="en-IN" sz="2000" dirty="0"/>
              <a:t> emp["role"]["title"] is flattened into </a:t>
            </a:r>
            <a:r>
              <a:rPr lang="en-IN" sz="2000" dirty="0" err="1"/>
              <a:t>role_title</a:t>
            </a:r>
            <a:r>
              <a:rPr lang="en-IN" sz="2000" dirty="0"/>
              <a:t>.</a:t>
            </a:r>
          </a:p>
          <a:p>
            <a:r>
              <a:rPr lang="en-IN" sz="2000" dirty="0"/>
              <a:t>Final output:</a:t>
            </a:r>
          </a:p>
          <a:p>
            <a:r>
              <a:rPr lang="en-IN" sz="2000" dirty="0"/>
              <a:t>[{'id': 1, 'name': 'Ravi', '</a:t>
            </a:r>
            <a:r>
              <a:rPr lang="en-IN" sz="2000" dirty="0" err="1"/>
              <a:t>role_title</a:t>
            </a:r>
            <a:r>
              <a:rPr lang="en-IN" sz="2000" dirty="0"/>
              <a:t>': 'Manager'},</a:t>
            </a:r>
          </a:p>
          <a:p>
            <a:r>
              <a:rPr lang="en-IN" sz="2000" dirty="0"/>
              <a:t> {'id': 2, 'name': 'Anil', '</a:t>
            </a:r>
            <a:r>
              <a:rPr lang="en-IN" sz="2000" dirty="0" err="1"/>
              <a:t>role_title</a:t>
            </a:r>
            <a:r>
              <a:rPr lang="en-IN" sz="2000" dirty="0"/>
              <a:t>': 'Engineer'}]</a:t>
            </a:r>
          </a:p>
          <a:p>
            <a:r>
              <a:rPr lang="en-IN" sz="2000" dirty="0"/>
              <a:t>✅ This is how your </a:t>
            </a:r>
            <a:r>
              <a:rPr lang="en-IN" sz="2000" b="1" dirty="0"/>
              <a:t>transformers</a:t>
            </a:r>
            <a:r>
              <a:rPr lang="en-IN" sz="2000" dirty="0"/>
              <a:t> flatten nested API data into tabular 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74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62931F-3330-EE35-6190-8F77260EB986}"/>
              </a:ext>
            </a:extLst>
          </p:cNvPr>
          <p:cNvSpPr txBox="1"/>
          <p:nvPr/>
        </p:nvSpPr>
        <p:spPr>
          <a:xfrm>
            <a:off x="1" y="112295"/>
            <a:ext cx="535806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5️⃣ ETL Design Patterns</a:t>
            </a:r>
          </a:p>
          <a:p>
            <a:pPr>
              <a:buNone/>
            </a:pPr>
            <a:r>
              <a:rPr lang="en-IN" sz="2000" b="1" dirty="0"/>
              <a:t>📘 Definition</a:t>
            </a:r>
          </a:p>
          <a:p>
            <a:pPr>
              <a:buNone/>
            </a:pPr>
            <a:r>
              <a:rPr lang="en-IN" dirty="0"/>
              <a:t>ETL (Extract–Transform–Load) design patterns define how your data pipeline is structured.</a:t>
            </a:r>
            <a:br>
              <a:rPr lang="en-IN" dirty="0"/>
            </a:br>
            <a:r>
              <a:rPr lang="en-IN" dirty="0"/>
              <a:t>They ensure your code is </a:t>
            </a:r>
            <a:r>
              <a:rPr lang="en-IN" b="1" dirty="0"/>
              <a:t>modular, reusable, and maintainable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A good ETL design separates: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Extract:</a:t>
            </a:r>
            <a:r>
              <a:rPr lang="en-IN" dirty="0"/>
              <a:t> Getting raw data (e.g., from API or S3)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Transform:</a:t>
            </a:r>
            <a:r>
              <a:rPr lang="en-IN" dirty="0"/>
              <a:t> Cleaning, shaping, and validating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Load:</a:t>
            </a:r>
            <a:r>
              <a:rPr lang="en-IN" dirty="0"/>
              <a:t> Saving to target (S3, Redshift, etc.)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11884-8FDA-5165-5DDF-9ECE1CD957BF}"/>
              </a:ext>
            </a:extLst>
          </p:cNvPr>
          <p:cNvSpPr/>
          <p:nvPr/>
        </p:nvSpPr>
        <p:spPr>
          <a:xfrm>
            <a:off x="6657474" y="112295"/>
            <a:ext cx="5101389" cy="65451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u="sng" dirty="0">
                <a:solidFill>
                  <a:srgbClr val="7030A0"/>
                </a:solidFill>
              </a:rPr>
              <a:t>Example: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class </a:t>
            </a:r>
            <a:r>
              <a:rPr lang="en-IN" sz="1400" dirty="0" err="1">
                <a:solidFill>
                  <a:srgbClr val="7030A0"/>
                </a:solidFill>
              </a:rPr>
              <a:t>EmployeeETL</a:t>
            </a:r>
            <a:r>
              <a:rPr lang="en-IN" sz="1400" dirty="0">
                <a:solidFill>
                  <a:srgbClr val="7030A0"/>
                </a:solidFill>
              </a:rPr>
              <a:t>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def __</a:t>
            </a:r>
            <a:r>
              <a:rPr lang="en-IN" sz="1400" dirty="0" err="1">
                <a:solidFill>
                  <a:srgbClr val="7030A0"/>
                </a:solidFill>
              </a:rPr>
              <a:t>init</a:t>
            </a:r>
            <a:r>
              <a:rPr lang="en-IN" sz="1400" dirty="0">
                <a:solidFill>
                  <a:srgbClr val="7030A0"/>
                </a:solidFill>
              </a:rPr>
              <a:t>__(self, extractor, transformer, loader):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</a:t>
            </a:r>
            <a:r>
              <a:rPr lang="en-IN" sz="1400" dirty="0" err="1">
                <a:solidFill>
                  <a:srgbClr val="7030A0"/>
                </a:solidFill>
              </a:rPr>
              <a:t>self.extractor</a:t>
            </a:r>
            <a:r>
              <a:rPr lang="en-IN" sz="1400" dirty="0">
                <a:solidFill>
                  <a:srgbClr val="7030A0"/>
                </a:solidFill>
              </a:rPr>
              <a:t> = extractor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</a:t>
            </a:r>
            <a:r>
              <a:rPr lang="en-IN" sz="1400" dirty="0" err="1">
                <a:solidFill>
                  <a:srgbClr val="7030A0"/>
                </a:solidFill>
              </a:rPr>
              <a:t>self.transformer</a:t>
            </a:r>
            <a:r>
              <a:rPr lang="en-IN" sz="1400" dirty="0">
                <a:solidFill>
                  <a:srgbClr val="7030A0"/>
                </a:solidFill>
              </a:rPr>
              <a:t> = transformer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</a:t>
            </a:r>
            <a:r>
              <a:rPr lang="en-IN" sz="1400" dirty="0" err="1">
                <a:solidFill>
                  <a:srgbClr val="7030A0"/>
                </a:solidFill>
              </a:rPr>
              <a:t>self.loader</a:t>
            </a:r>
            <a:r>
              <a:rPr lang="en-IN" sz="1400" dirty="0">
                <a:solidFill>
                  <a:srgbClr val="7030A0"/>
                </a:solidFill>
              </a:rPr>
              <a:t> = loader</a:t>
            </a:r>
          </a:p>
          <a:p>
            <a:endParaRPr lang="en-IN" sz="1400" dirty="0">
              <a:solidFill>
                <a:srgbClr val="7030A0"/>
              </a:solidFill>
            </a:endParaRPr>
          </a:p>
          <a:p>
            <a:r>
              <a:rPr lang="en-IN" sz="1400" dirty="0">
                <a:solidFill>
                  <a:srgbClr val="7030A0"/>
                </a:solidFill>
              </a:rPr>
              <a:t>    def run(self):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</a:t>
            </a:r>
            <a:r>
              <a:rPr lang="en-IN" sz="1400" dirty="0" err="1">
                <a:solidFill>
                  <a:srgbClr val="7030A0"/>
                </a:solidFill>
              </a:rPr>
              <a:t>raw_data</a:t>
            </a:r>
            <a:r>
              <a:rPr lang="en-IN" sz="1400" dirty="0">
                <a:solidFill>
                  <a:srgbClr val="7030A0"/>
                </a:solidFill>
              </a:rPr>
              <a:t> = </a:t>
            </a:r>
            <a:r>
              <a:rPr lang="en-IN" sz="1400" dirty="0" err="1">
                <a:solidFill>
                  <a:srgbClr val="7030A0"/>
                </a:solidFill>
              </a:rPr>
              <a:t>self.extractor.extract</a:t>
            </a:r>
            <a:r>
              <a:rPr lang="en-IN" sz="1400" dirty="0">
                <a:solidFill>
                  <a:srgbClr val="7030A0"/>
                </a:solidFill>
              </a:rPr>
              <a:t>()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transformed = </a:t>
            </a:r>
            <a:r>
              <a:rPr lang="en-IN" sz="1400" dirty="0" err="1">
                <a:solidFill>
                  <a:srgbClr val="7030A0"/>
                </a:solidFill>
              </a:rPr>
              <a:t>self.transformer.transform</a:t>
            </a:r>
            <a:r>
              <a:rPr lang="en-IN" sz="1400" dirty="0">
                <a:solidFill>
                  <a:srgbClr val="7030A0"/>
                </a:solidFill>
              </a:rPr>
              <a:t>(</a:t>
            </a:r>
            <a:r>
              <a:rPr lang="en-IN" sz="1400" dirty="0" err="1">
                <a:solidFill>
                  <a:srgbClr val="7030A0"/>
                </a:solidFill>
              </a:rPr>
              <a:t>raw_data</a:t>
            </a:r>
            <a:r>
              <a:rPr lang="en-IN" sz="1400" dirty="0">
                <a:solidFill>
                  <a:srgbClr val="7030A0"/>
                </a:solidFill>
              </a:rPr>
              <a:t>)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</a:t>
            </a:r>
            <a:r>
              <a:rPr lang="en-IN" sz="1400" dirty="0" err="1">
                <a:solidFill>
                  <a:srgbClr val="7030A0"/>
                </a:solidFill>
              </a:rPr>
              <a:t>self.loader.load</a:t>
            </a:r>
            <a:r>
              <a:rPr lang="en-IN" sz="1400" dirty="0">
                <a:solidFill>
                  <a:srgbClr val="7030A0"/>
                </a:solidFill>
              </a:rPr>
              <a:t>(transformed)</a:t>
            </a:r>
          </a:p>
          <a:p>
            <a:endParaRPr lang="en-IN" sz="1400" dirty="0">
              <a:solidFill>
                <a:srgbClr val="7030A0"/>
              </a:solidFill>
            </a:endParaRPr>
          </a:p>
          <a:p>
            <a:r>
              <a:rPr lang="en-IN" sz="1400" dirty="0">
                <a:solidFill>
                  <a:srgbClr val="7030A0"/>
                </a:solidFill>
              </a:rPr>
              <a:t># Example Implementations</a:t>
            </a:r>
          </a:p>
          <a:p>
            <a:r>
              <a:rPr lang="en-IN" sz="1400" dirty="0">
                <a:solidFill>
                  <a:srgbClr val="7030A0"/>
                </a:solidFill>
              </a:rPr>
              <a:t>class Extractor: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def extract(self):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return [{"name": "Ravi", "role": "Manager"}]</a:t>
            </a:r>
          </a:p>
          <a:p>
            <a:endParaRPr lang="en-IN" sz="1400" dirty="0">
              <a:solidFill>
                <a:srgbClr val="7030A0"/>
              </a:solidFill>
            </a:endParaRPr>
          </a:p>
          <a:p>
            <a:r>
              <a:rPr lang="en-IN" sz="1400" dirty="0">
                <a:solidFill>
                  <a:srgbClr val="7030A0"/>
                </a:solidFill>
              </a:rPr>
              <a:t>class Transformer: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def transform(self, data):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for d in data: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    d["role"] = d["role"].upper()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return data</a:t>
            </a:r>
          </a:p>
          <a:p>
            <a:endParaRPr lang="en-IN" sz="1400" dirty="0">
              <a:solidFill>
                <a:srgbClr val="7030A0"/>
              </a:solidFill>
            </a:endParaRPr>
          </a:p>
          <a:p>
            <a:r>
              <a:rPr lang="en-IN" sz="1400" dirty="0">
                <a:solidFill>
                  <a:srgbClr val="7030A0"/>
                </a:solidFill>
              </a:rPr>
              <a:t>class Loader: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def load(self, data):</a:t>
            </a:r>
          </a:p>
          <a:p>
            <a:r>
              <a:rPr lang="en-IN" sz="1400" dirty="0">
                <a:solidFill>
                  <a:srgbClr val="7030A0"/>
                </a:solidFill>
              </a:rPr>
              <a:t>        print("Saving:", data)</a:t>
            </a:r>
          </a:p>
          <a:p>
            <a:endParaRPr lang="en-IN" sz="1400" dirty="0">
              <a:solidFill>
                <a:srgbClr val="7030A0"/>
              </a:solidFill>
            </a:endParaRPr>
          </a:p>
          <a:p>
            <a:r>
              <a:rPr lang="en-IN" sz="1400" dirty="0" err="1">
                <a:solidFill>
                  <a:srgbClr val="7030A0"/>
                </a:solidFill>
              </a:rPr>
              <a:t>etl</a:t>
            </a:r>
            <a:r>
              <a:rPr lang="en-IN" sz="1400" dirty="0">
                <a:solidFill>
                  <a:srgbClr val="7030A0"/>
                </a:solidFill>
              </a:rPr>
              <a:t> = </a:t>
            </a:r>
            <a:r>
              <a:rPr lang="en-IN" sz="1400" dirty="0" err="1">
                <a:solidFill>
                  <a:srgbClr val="7030A0"/>
                </a:solidFill>
              </a:rPr>
              <a:t>EmployeeETL</a:t>
            </a:r>
            <a:r>
              <a:rPr lang="en-IN" sz="1400" dirty="0">
                <a:solidFill>
                  <a:srgbClr val="7030A0"/>
                </a:solidFill>
              </a:rPr>
              <a:t>(Extractor(), Transformer(), Loader())</a:t>
            </a:r>
          </a:p>
          <a:p>
            <a:r>
              <a:rPr lang="en-IN" sz="1400" dirty="0" err="1">
                <a:solidFill>
                  <a:srgbClr val="7030A0"/>
                </a:solidFill>
              </a:rPr>
              <a:t>etl.run</a:t>
            </a:r>
            <a:r>
              <a:rPr lang="en-IN" sz="1400" dirty="0">
                <a:solidFill>
                  <a:srgbClr val="7030A0"/>
                </a:solidFill>
              </a:rPr>
              <a:t>()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D4A4E-6542-B53A-FBAC-6CCCD2329DAC}"/>
              </a:ext>
            </a:extLst>
          </p:cNvPr>
          <p:cNvSpPr txBox="1"/>
          <p:nvPr/>
        </p:nvSpPr>
        <p:spPr>
          <a:xfrm>
            <a:off x="0" y="3176337"/>
            <a:ext cx="6096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🧠 Explanation</a:t>
            </a:r>
          </a:p>
          <a:p>
            <a:r>
              <a:rPr lang="en-US" b="1" dirty="0"/>
              <a:t>Each component</a:t>
            </a:r>
            <a:r>
              <a:rPr lang="en-US" dirty="0"/>
              <a:t> (extract, transform, load) is independent.</a:t>
            </a:r>
          </a:p>
          <a:p>
            <a:r>
              <a:rPr lang="en-US" dirty="0"/>
              <a:t>You can swap out S3 loader for a CSV loader easily — that’s modularity.</a:t>
            </a:r>
          </a:p>
          <a:p>
            <a:r>
              <a:rPr lang="en-US" dirty="0"/>
              <a:t>The </a:t>
            </a:r>
            <a:r>
              <a:rPr lang="en-US" b="1" dirty="0"/>
              <a:t>ETL runner class</a:t>
            </a:r>
            <a:r>
              <a:rPr lang="en-US" dirty="0"/>
              <a:t> orchestrates the full flow.</a:t>
            </a:r>
          </a:p>
          <a:p>
            <a:r>
              <a:rPr lang="en-US" dirty="0"/>
              <a:t>This pattern mirrors how AWS Glue or Airflow jobs work — step-by-step execution.</a:t>
            </a:r>
          </a:p>
          <a:p>
            <a:r>
              <a:rPr lang="en-US" dirty="0"/>
              <a:t>✅ </a:t>
            </a:r>
            <a:r>
              <a:rPr lang="en-US" b="1" dirty="0"/>
              <a:t>Why it matters:</a:t>
            </a:r>
            <a:br>
              <a:rPr lang="en-US" dirty="0"/>
            </a:br>
            <a:r>
              <a:rPr lang="en-US" dirty="0"/>
              <a:t>Clear separation makes debugging, scaling, and deployment easier.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65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56F852-5E5F-ABBE-EBA8-3F46B2A15212}"/>
              </a:ext>
            </a:extLst>
          </p:cNvPr>
          <p:cNvSpPr/>
          <p:nvPr/>
        </p:nvSpPr>
        <p:spPr>
          <a:xfrm>
            <a:off x="7395411" y="385011"/>
            <a:ext cx="4604084" cy="61441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Example:</a:t>
            </a:r>
          </a:p>
          <a:p>
            <a:r>
              <a:rPr lang="en-IN" dirty="0">
                <a:solidFill>
                  <a:srgbClr val="7030A0"/>
                </a:solidFill>
              </a:rPr>
              <a:t>import pandas as pd</a:t>
            </a:r>
          </a:p>
          <a:p>
            <a:r>
              <a:rPr lang="en-IN" dirty="0">
                <a:solidFill>
                  <a:srgbClr val="7030A0"/>
                </a:solidFill>
              </a:rPr>
              <a:t>import boto3</a:t>
            </a:r>
          </a:p>
          <a:p>
            <a:r>
              <a:rPr lang="en-IN" dirty="0">
                <a:solidFill>
                  <a:srgbClr val="7030A0"/>
                </a:solidFill>
              </a:rPr>
              <a:t>from io import </a:t>
            </a:r>
            <a:r>
              <a:rPr lang="en-IN" dirty="0" err="1">
                <a:solidFill>
                  <a:srgbClr val="7030A0"/>
                </a:solidFill>
              </a:rPr>
              <a:t>StringIO</a:t>
            </a:r>
            <a:endParaRPr lang="en-IN" dirty="0">
              <a:solidFill>
                <a:srgbClr val="7030A0"/>
              </a:solidFill>
            </a:endParaRP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def persist_to_s3(</a:t>
            </a:r>
            <a:r>
              <a:rPr lang="en-IN" dirty="0" err="1">
                <a:solidFill>
                  <a:srgbClr val="7030A0"/>
                </a:solidFill>
              </a:rPr>
              <a:t>df</a:t>
            </a:r>
            <a:r>
              <a:rPr lang="en-IN" dirty="0">
                <a:solidFill>
                  <a:srgbClr val="7030A0"/>
                </a:solidFill>
              </a:rPr>
              <a:t>, bucket, key):</a:t>
            </a:r>
          </a:p>
          <a:p>
            <a:r>
              <a:rPr lang="en-IN" dirty="0">
                <a:solidFill>
                  <a:srgbClr val="7030A0"/>
                </a:solidFill>
              </a:rPr>
              <a:t>    s3 = boto3.client("s3")</a:t>
            </a:r>
          </a:p>
          <a:p>
            <a:r>
              <a:rPr lang="en-IN" dirty="0">
                <a:solidFill>
                  <a:srgbClr val="7030A0"/>
                </a:solidFill>
              </a:rPr>
              <a:t>    </a:t>
            </a:r>
            <a:r>
              <a:rPr lang="en-IN" dirty="0" err="1">
                <a:solidFill>
                  <a:srgbClr val="7030A0"/>
                </a:solidFill>
              </a:rPr>
              <a:t>csv_buffer</a:t>
            </a:r>
            <a:r>
              <a:rPr lang="en-IN" dirty="0">
                <a:solidFill>
                  <a:srgbClr val="7030A0"/>
                </a:solidFill>
              </a:rPr>
              <a:t> = </a:t>
            </a:r>
            <a:r>
              <a:rPr lang="en-IN" dirty="0" err="1">
                <a:solidFill>
                  <a:srgbClr val="7030A0"/>
                </a:solidFill>
              </a:rPr>
              <a:t>StringIO</a:t>
            </a:r>
            <a:r>
              <a:rPr lang="en-IN" dirty="0">
                <a:solidFill>
                  <a:srgbClr val="7030A0"/>
                </a:solidFill>
              </a:rPr>
              <a:t>()</a:t>
            </a:r>
          </a:p>
          <a:p>
            <a:r>
              <a:rPr lang="en-IN" dirty="0">
                <a:solidFill>
                  <a:srgbClr val="7030A0"/>
                </a:solidFill>
              </a:rPr>
              <a:t>    </a:t>
            </a:r>
            <a:r>
              <a:rPr lang="en-IN" dirty="0" err="1">
                <a:solidFill>
                  <a:srgbClr val="7030A0"/>
                </a:solidFill>
              </a:rPr>
              <a:t>df.to_csv</a:t>
            </a:r>
            <a:r>
              <a:rPr lang="en-IN" dirty="0">
                <a:solidFill>
                  <a:srgbClr val="7030A0"/>
                </a:solidFill>
              </a:rPr>
              <a:t>(</a:t>
            </a:r>
            <a:r>
              <a:rPr lang="en-IN" dirty="0" err="1">
                <a:solidFill>
                  <a:srgbClr val="7030A0"/>
                </a:solidFill>
              </a:rPr>
              <a:t>csv_buffer</a:t>
            </a:r>
            <a:r>
              <a:rPr lang="en-IN" dirty="0">
                <a:solidFill>
                  <a:srgbClr val="7030A0"/>
                </a:solidFill>
              </a:rPr>
              <a:t>, index=False)</a:t>
            </a:r>
          </a:p>
          <a:p>
            <a:r>
              <a:rPr lang="en-IN" dirty="0">
                <a:solidFill>
                  <a:srgbClr val="7030A0"/>
                </a:solidFill>
              </a:rPr>
              <a:t>    s3.put_object(Bucket=bucket, Key=key, Body=</a:t>
            </a:r>
            <a:r>
              <a:rPr lang="en-IN" dirty="0" err="1">
                <a:solidFill>
                  <a:srgbClr val="7030A0"/>
                </a:solidFill>
              </a:rPr>
              <a:t>csv_buffer.getvalue</a:t>
            </a:r>
            <a:r>
              <a:rPr lang="en-IN" dirty="0">
                <a:solidFill>
                  <a:srgbClr val="7030A0"/>
                </a:solidFill>
              </a:rPr>
              <a:t>())</a:t>
            </a:r>
          </a:p>
          <a:p>
            <a:r>
              <a:rPr lang="en-IN" dirty="0">
                <a:solidFill>
                  <a:srgbClr val="7030A0"/>
                </a:solidFill>
              </a:rPr>
              <a:t>    print("Uploaded to S3:", f"s3://{bucket}/{key}")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 err="1">
                <a:solidFill>
                  <a:srgbClr val="7030A0"/>
                </a:solidFill>
              </a:rPr>
              <a:t>df</a:t>
            </a:r>
            <a:r>
              <a:rPr lang="en-IN" dirty="0">
                <a:solidFill>
                  <a:srgbClr val="7030A0"/>
                </a:solidFill>
              </a:rPr>
              <a:t> = </a:t>
            </a:r>
            <a:r>
              <a:rPr lang="en-IN" dirty="0" err="1">
                <a:solidFill>
                  <a:srgbClr val="7030A0"/>
                </a:solidFill>
              </a:rPr>
              <a:t>pd.DataFrame</a:t>
            </a:r>
            <a:r>
              <a:rPr lang="en-IN" dirty="0">
                <a:solidFill>
                  <a:srgbClr val="7030A0"/>
                </a:solidFill>
              </a:rPr>
              <a:t>([{"name": "Ravi", "role": "Manager"}])</a:t>
            </a:r>
          </a:p>
          <a:p>
            <a:r>
              <a:rPr lang="en-IN" dirty="0">
                <a:solidFill>
                  <a:srgbClr val="7030A0"/>
                </a:solidFill>
              </a:rPr>
              <a:t>persist_to_s3(</a:t>
            </a:r>
            <a:r>
              <a:rPr lang="en-IN" dirty="0" err="1">
                <a:solidFill>
                  <a:srgbClr val="7030A0"/>
                </a:solidFill>
              </a:rPr>
              <a:t>df</a:t>
            </a:r>
            <a:r>
              <a:rPr lang="en-IN" dirty="0">
                <a:solidFill>
                  <a:srgbClr val="7030A0"/>
                </a:solidFill>
              </a:rPr>
              <a:t>, "my-</a:t>
            </a:r>
            <a:r>
              <a:rPr lang="en-IN" dirty="0" err="1">
                <a:solidFill>
                  <a:srgbClr val="7030A0"/>
                </a:solidFill>
              </a:rPr>
              <a:t>etl</a:t>
            </a:r>
            <a:r>
              <a:rPr lang="en-IN" dirty="0">
                <a:solidFill>
                  <a:srgbClr val="7030A0"/>
                </a:solidFill>
              </a:rPr>
              <a:t>-bucket", "employees/employees.csv")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0C991-3B72-8592-A562-FDEBBC99C7C4}"/>
              </a:ext>
            </a:extLst>
          </p:cNvPr>
          <p:cNvSpPr txBox="1"/>
          <p:nvPr/>
        </p:nvSpPr>
        <p:spPr>
          <a:xfrm>
            <a:off x="1" y="176463"/>
            <a:ext cx="739541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🗂️ 6️⃣ Persistence &amp; Storage</a:t>
            </a:r>
          </a:p>
          <a:p>
            <a:pPr>
              <a:buNone/>
            </a:pPr>
            <a:r>
              <a:rPr lang="en-IN" sz="2400" b="1" dirty="0"/>
              <a:t>📘 Definition</a:t>
            </a:r>
          </a:p>
          <a:p>
            <a:pPr>
              <a:buNone/>
            </a:pPr>
            <a:r>
              <a:rPr lang="en-IN" sz="2000" dirty="0"/>
              <a:t>Persistence means saving transformed data permanently — usually to </a:t>
            </a:r>
            <a:r>
              <a:rPr lang="en-IN" sz="2000" b="1" dirty="0"/>
              <a:t>files (CSV/Parquet)</a:t>
            </a:r>
            <a:r>
              <a:rPr lang="en-IN" sz="2000" dirty="0"/>
              <a:t> or </a:t>
            </a:r>
            <a:r>
              <a:rPr lang="en-IN" sz="2000" b="1" dirty="0"/>
              <a:t>cloud (AWS S3, Redshift, etc.)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dirty="0"/>
              <a:t>It also involves managing </a:t>
            </a:r>
            <a:r>
              <a:rPr lang="en-IN" sz="2000" b="1" dirty="0"/>
              <a:t>different environments</a:t>
            </a:r>
            <a:r>
              <a:rPr lang="en-IN" sz="2000" dirty="0"/>
              <a:t> (local, dev, prod) with distinct paths or credentials.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2CCA7-395D-F0A8-045E-3DE2206A6A4D}"/>
              </a:ext>
            </a:extLst>
          </p:cNvPr>
          <p:cNvSpPr txBox="1"/>
          <p:nvPr/>
        </p:nvSpPr>
        <p:spPr>
          <a:xfrm>
            <a:off x="192505" y="2679032"/>
            <a:ext cx="649705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🧠 Explanation:</a:t>
            </a:r>
          </a:p>
          <a:p>
            <a:r>
              <a:rPr lang="en-US" sz="2000" dirty="0"/>
              <a:t>Converts the </a:t>
            </a:r>
            <a:r>
              <a:rPr lang="en-US" sz="2000" dirty="0" err="1"/>
              <a:t>DataFrame</a:t>
            </a:r>
            <a:r>
              <a:rPr lang="en-US" sz="2000" dirty="0"/>
              <a:t> to a </a:t>
            </a:r>
            <a:r>
              <a:rPr lang="en-US" sz="2000" b="1" dirty="0"/>
              <a:t>CSV string in memory</a:t>
            </a:r>
            <a:r>
              <a:rPr lang="en-US" sz="2000" dirty="0"/>
              <a:t> (</a:t>
            </a:r>
            <a:r>
              <a:rPr lang="en-US" sz="2000" dirty="0" err="1"/>
              <a:t>StringIO</a:t>
            </a:r>
            <a:r>
              <a:rPr lang="en-US" sz="2000" dirty="0"/>
              <a:t>).</a:t>
            </a:r>
          </a:p>
          <a:p>
            <a:r>
              <a:rPr lang="en-US" sz="2000" dirty="0"/>
              <a:t>Uses boto3 client to upload the data to S3.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bucket and key</a:t>
            </a:r>
            <a:r>
              <a:rPr lang="en-US" sz="2000" dirty="0"/>
              <a:t> change based on environment (e.g., dev or prod).</a:t>
            </a:r>
          </a:p>
          <a:p>
            <a:r>
              <a:rPr lang="en-US" sz="2000" dirty="0"/>
              <a:t>You can store configs like this in a </a:t>
            </a:r>
            <a:r>
              <a:rPr lang="en-US" sz="2000" b="1" dirty="0" err="1"/>
              <a:t>config.json</a:t>
            </a:r>
            <a:r>
              <a:rPr lang="en-US" sz="2000" dirty="0"/>
              <a:t> or </a:t>
            </a:r>
            <a:r>
              <a:rPr lang="en-US" sz="2000" b="1" dirty="0"/>
              <a:t>YAML file</a:t>
            </a:r>
            <a:r>
              <a:rPr lang="en-US" sz="2000" dirty="0"/>
              <a:t>.</a:t>
            </a:r>
          </a:p>
          <a:p>
            <a:r>
              <a:rPr lang="en-US" sz="2000" dirty="0"/>
              <a:t>✅ </a:t>
            </a:r>
            <a:r>
              <a:rPr lang="en-US" sz="2000" b="1" dirty="0"/>
              <a:t>ETL Tip:</a:t>
            </a:r>
            <a:br>
              <a:rPr lang="en-US" sz="2000" dirty="0"/>
            </a:br>
            <a:r>
              <a:rPr lang="en-US" sz="2000" dirty="0"/>
              <a:t>Abstract this into a S3PersistenceService class so all ETL jobs use consistent save logic.</a:t>
            </a:r>
          </a:p>
        </p:txBody>
      </p:sp>
    </p:spTree>
    <p:extLst>
      <p:ext uri="{BB962C8B-B14F-4D97-AF65-F5344CB8AC3E}">
        <p14:creationId xmlns:p14="http://schemas.microsoft.com/office/powerpoint/2010/main" val="198445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1BAA77-C6FC-4829-3875-1DC7B86B957D}"/>
              </a:ext>
            </a:extLst>
          </p:cNvPr>
          <p:cNvSpPr/>
          <p:nvPr/>
        </p:nvSpPr>
        <p:spPr>
          <a:xfrm>
            <a:off x="6336631" y="212558"/>
            <a:ext cx="5598695" cy="64930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Example:</a:t>
            </a:r>
          </a:p>
          <a:p>
            <a:r>
              <a:rPr lang="en-IN" sz="2000" dirty="0" err="1"/>
              <a:t>config.json</a:t>
            </a:r>
            <a:r>
              <a:rPr lang="en-IN" dirty="0"/>
              <a:t>:</a:t>
            </a:r>
          </a:p>
          <a:p>
            <a:r>
              <a:rPr lang="en-IN" dirty="0">
                <a:solidFill>
                  <a:srgbClr val="7030A0"/>
                </a:solidFill>
              </a:rPr>
              <a:t>{</a:t>
            </a:r>
          </a:p>
          <a:p>
            <a:r>
              <a:rPr lang="en-IN" dirty="0">
                <a:solidFill>
                  <a:srgbClr val="7030A0"/>
                </a:solidFill>
              </a:rPr>
              <a:t>  "local": {"s3_bucket": "</a:t>
            </a:r>
            <a:r>
              <a:rPr lang="en-IN" dirty="0" err="1">
                <a:solidFill>
                  <a:srgbClr val="7030A0"/>
                </a:solidFill>
              </a:rPr>
              <a:t>etl</a:t>
            </a:r>
            <a:r>
              <a:rPr lang="en-IN" dirty="0">
                <a:solidFill>
                  <a:srgbClr val="7030A0"/>
                </a:solidFill>
              </a:rPr>
              <a:t>-local", "</a:t>
            </a:r>
            <a:r>
              <a:rPr lang="en-IN" dirty="0" err="1">
                <a:solidFill>
                  <a:srgbClr val="7030A0"/>
                </a:solidFill>
              </a:rPr>
              <a:t>db_host</a:t>
            </a:r>
            <a:r>
              <a:rPr lang="en-IN" dirty="0">
                <a:solidFill>
                  <a:srgbClr val="7030A0"/>
                </a:solidFill>
              </a:rPr>
              <a:t>": "localhost"},</a:t>
            </a:r>
          </a:p>
          <a:p>
            <a:r>
              <a:rPr lang="en-IN" dirty="0">
                <a:solidFill>
                  <a:srgbClr val="7030A0"/>
                </a:solidFill>
              </a:rPr>
              <a:t>  "dev": {"s3_bucket": "</a:t>
            </a:r>
            <a:r>
              <a:rPr lang="en-IN" dirty="0" err="1">
                <a:solidFill>
                  <a:srgbClr val="7030A0"/>
                </a:solidFill>
              </a:rPr>
              <a:t>etl</a:t>
            </a:r>
            <a:r>
              <a:rPr lang="en-IN" dirty="0">
                <a:solidFill>
                  <a:srgbClr val="7030A0"/>
                </a:solidFill>
              </a:rPr>
              <a:t>-dev", "</a:t>
            </a:r>
            <a:r>
              <a:rPr lang="en-IN" dirty="0" err="1">
                <a:solidFill>
                  <a:srgbClr val="7030A0"/>
                </a:solidFill>
              </a:rPr>
              <a:t>db_host</a:t>
            </a:r>
            <a:r>
              <a:rPr lang="en-IN" dirty="0">
                <a:solidFill>
                  <a:srgbClr val="7030A0"/>
                </a:solidFill>
              </a:rPr>
              <a:t>": "dev-db.aws.com"}</a:t>
            </a:r>
          </a:p>
          <a:p>
            <a:r>
              <a:rPr lang="en-IN" dirty="0">
                <a:solidFill>
                  <a:srgbClr val="7030A0"/>
                </a:solidFill>
              </a:rPr>
              <a:t>}</a:t>
            </a:r>
          </a:p>
          <a:p>
            <a:r>
              <a:rPr lang="en-IN" dirty="0"/>
              <a:t>Example:</a:t>
            </a:r>
          </a:p>
          <a:p>
            <a:r>
              <a:rPr lang="en-IN" dirty="0">
                <a:solidFill>
                  <a:srgbClr val="7030A0"/>
                </a:solidFill>
              </a:rPr>
              <a:t>import </a:t>
            </a:r>
            <a:r>
              <a:rPr lang="en-IN" dirty="0" err="1">
                <a:solidFill>
                  <a:srgbClr val="7030A0"/>
                </a:solidFill>
              </a:rPr>
              <a:t>json</a:t>
            </a:r>
            <a:r>
              <a:rPr lang="en-IN" dirty="0">
                <a:solidFill>
                  <a:srgbClr val="7030A0"/>
                </a:solidFill>
              </a:rPr>
              <a:t>, </a:t>
            </a:r>
            <a:r>
              <a:rPr lang="en-IN" dirty="0" err="1">
                <a:solidFill>
                  <a:srgbClr val="7030A0"/>
                </a:solidFill>
              </a:rPr>
              <a:t>os</a:t>
            </a:r>
            <a:endParaRPr lang="en-IN" dirty="0">
              <a:solidFill>
                <a:srgbClr val="7030A0"/>
              </a:solidFill>
            </a:endParaRP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env = </a:t>
            </a:r>
            <a:r>
              <a:rPr lang="en-IN" dirty="0" err="1">
                <a:solidFill>
                  <a:srgbClr val="7030A0"/>
                </a:solidFill>
              </a:rPr>
              <a:t>os.getenv</a:t>
            </a:r>
            <a:r>
              <a:rPr lang="en-IN" dirty="0">
                <a:solidFill>
                  <a:srgbClr val="7030A0"/>
                </a:solidFill>
              </a:rPr>
              <a:t>("ENV", "local")</a:t>
            </a:r>
          </a:p>
          <a:p>
            <a:r>
              <a:rPr lang="en-IN" dirty="0">
                <a:solidFill>
                  <a:srgbClr val="7030A0"/>
                </a:solidFill>
              </a:rPr>
              <a:t>with open("</a:t>
            </a:r>
            <a:r>
              <a:rPr lang="en-IN" dirty="0" err="1">
                <a:solidFill>
                  <a:srgbClr val="7030A0"/>
                </a:solidFill>
              </a:rPr>
              <a:t>config.json</a:t>
            </a:r>
            <a:r>
              <a:rPr lang="en-IN" dirty="0">
                <a:solidFill>
                  <a:srgbClr val="7030A0"/>
                </a:solidFill>
              </a:rPr>
              <a:t>") as f:</a:t>
            </a:r>
          </a:p>
          <a:p>
            <a:r>
              <a:rPr lang="en-IN" dirty="0">
                <a:solidFill>
                  <a:srgbClr val="7030A0"/>
                </a:solidFill>
              </a:rPr>
              <a:t>    config = </a:t>
            </a:r>
            <a:r>
              <a:rPr lang="en-IN" dirty="0" err="1">
                <a:solidFill>
                  <a:srgbClr val="7030A0"/>
                </a:solidFill>
              </a:rPr>
              <a:t>json.load</a:t>
            </a:r>
            <a:r>
              <a:rPr lang="en-IN" dirty="0">
                <a:solidFill>
                  <a:srgbClr val="7030A0"/>
                </a:solidFill>
              </a:rPr>
              <a:t>(f)[env]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r>
              <a:rPr lang="en-IN" dirty="0">
                <a:solidFill>
                  <a:srgbClr val="7030A0"/>
                </a:solidFill>
              </a:rPr>
              <a:t>print("Running in:", env)</a:t>
            </a:r>
          </a:p>
          <a:p>
            <a:r>
              <a:rPr lang="en-IN" dirty="0">
                <a:solidFill>
                  <a:srgbClr val="7030A0"/>
                </a:solidFill>
              </a:rPr>
              <a:t>print("S3 Bucket:", config["s3_bucket"])</a:t>
            </a:r>
          </a:p>
          <a:p>
            <a:endParaRPr lang="en-IN" dirty="0">
              <a:solidFill>
                <a:srgbClr val="7030A0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5C48E-EF70-D1E8-F8FB-77C6FDB83944}"/>
              </a:ext>
            </a:extLst>
          </p:cNvPr>
          <p:cNvSpPr txBox="1"/>
          <p:nvPr/>
        </p:nvSpPr>
        <p:spPr>
          <a:xfrm>
            <a:off x="0" y="336884"/>
            <a:ext cx="6336631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🌍 7️⃣ Environments &amp; Configurations</a:t>
            </a:r>
          </a:p>
          <a:p>
            <a:pPr>
              <a:buNone/>
            </a:pPr>
            <a:r>
              <a:rPr lang="en-IN" sz="2000" b="1" dirty="0"/>
              <a:t>📘 Definition</a:t>
            </a:r>
          </a:p>
          <a:p>
            <a:pPr>
              <a:buNone/>
            </a:pPr>
            <a:r>
              <a:rPr lang="en-IN" sz="2000" dirty="0"/>
              <a:t>Each environment (local, dev, stage, prod) has </a:t>
            </a:r>
            <a:r>
              <a:rPr lang="en-IN" sz="2000" b="1" dirty="0"/>
              <a:t>different databases, credentials, and S3 paths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dirty="0"/>
              <a:t>Configs ensure one codebase can adapt without manual edits.</a:t>
            </a:r>
            <a:br>
              <a:rPr lang="en-IN" sz="2000" dirty="0"/>
            </a:br>
            <a:r>
              <a:rPr lang="en-IN" sz="2000" dirty="0"/>
              <a:t>You store these values in </a:t>
            </a:r>
            <a:r>
              <a:rPr lang="en-IN" sz="2000" b="1" dirty="0"/>
              <a:t>YAML / JSON config files</a:t>
            </a:r>
            <a:r>
              <a:rPr lang="en-IN" sz="2000" dirty="0"/>
              <a:t>, or </a:t>
            </a:r>
            <a:r>
              <a:rPr lang="en-IN" sz="2000" b="1" dirty="0"/>
              <a:t>environment variables</a:t>
            </a:r>
            <a:r>
              <a:rPr lang="en-IN" sz="2000" dirty="0"/>
              <a:t>.</a:t>
            </a:r>
          </a:p>
          <a:p>
            <a:pPr>
              <a:buNone/>
            </a:pPr>
            <a:endParaRPr lang="en-IN" sz="2000" dirty="0"/>
          </a:p>
          <a:p>
            <a:r>
              <a:rPr lang="en-US" sz="2000" b="1" dirty="0"/>
              <a:t>Explanation</a:t>
            </a:r>
          </a:p>
          <a:p>
            <a:r>
              <a:rPr lang="en-US" sz="2000" b="1" dirty="0" err="1"/>
              <a:t>os.getenv</a:t>
            </a:r>
            <a:r>
              <a:rPr lang="en-US" sz="2000" b="1" dirty="0"/>
              <a:t>("ENV", "local")</a:t>
            </a:r>
            <a:r>
              <a:rPr lang="en-US" sz="2000" dirty="0"/>
              <a:t> reads which environment to use (default is local).</a:t>
            </a:r>
          </a:p>
          <a:p>
            <a:r>
              <a:rPr lang="en-US" sz="2000" dirty="0"/>
              <a:t>Based on that, loads the correct section from the config file.</a:t>
            </a:r>
          </a:p>
          <a:p>
            <a:r>
              <a:rPr lang="en-US" sz="2000" dirty="0"/>
              <a:t>When you run:</a:t>
            </a:r>
          </a:p>
          <a:p>
            <a:r>
              <a:rPr lang="en-US" sz="2000" dirty="0">
                <a:solidFill>
                  <a:srgbClr val="7030A0"/>
                </a:solidFill>
              </a:rPr>
              <a:t>ENV=dev python etl.py</a:t>
            </a:r>
          </a:p>
          <a:p>
            <a:r>
              <a:rPr lang="en-US" sz="2000" dirty="0"/>
              <a:t>It picks </a:t>
            </a:r>
            <a:r>
              <a:rPr lang="en-US" sz="2000" b="1" dirty="0"/>
              <a:t>dev</a:t>
            </a:r>
            <a:r>
              <a:rPr lang="en-US" sz="2000" dirty="0"/>
              <a:t> automatically.</a:t>
            </a:r>
            <a:br>
              <a:rPr lang="en-US" sz="2000" dirty="0"/>
            </a:br>
            <a:r>
              <a:rPr lang="en-US" sz="2000" dirty="0"/>
              <a:t>✅ </a:t>
            </a:r>
            <a:r>
              <a:rPr lang="en-US" sz="2000" b="1" dirty="0"/>
              <a:t>Purpose:</a:t>
            </a:r>
            <a:r>
              <a:rPr lang="en-US" sz="2000" dirty="0"/>
              <a:t> Avoids hardcoding and makes your code deployment-ready for any AWS environment.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0EE4A8-7FF0-80DC-0F2E-4B2087CCE9AB}"/>
              </a:ext>
            </a:extLst>
          </p:cNvPr>
          <p:cNvSpPr/>
          <p:nvPr/>
        </p:nvSpPr>
        <p:spPr>
          <a:xfrm>
            <a:off x="0" y="4828674"/>
            <a:ext cx="4668253" cy="465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4483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1709</Words>
  <Application>Microsoft Office PowerPoint</Application>
  <PresentationFormat>Widescreen</PresentationFormat>
  <Paragraphs>205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Wingdings 3</vt:lpstr>
      <vt:lpstr>Facet</vt:lpstr>
      <vt:lpstr>Python ETL &amp; AWS Data Pipeline Foundations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2025-11-03T05:07:49Z</dcterms:created>
  <dcterms:modified xsi:type="dcterms:W3CDTF">2025-11-03T06:06:42Z</dcterms:modified>
</cp:coreProperties>
</file>