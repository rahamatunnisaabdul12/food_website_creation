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4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2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76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8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30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32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8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39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8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88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3557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3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87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201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78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52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5F2B2-EF56-41EC-B493-5395F0B585D6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9AFE37-3C89-40EE-AF86-25C5657608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2E6F-F12A-A561-1DF1-F57C24A6F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ETL &amp; AWS Data Pipeline Foundations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30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7236D-C31B-A3BC-1CCF-CEC8C92E1354}"/>
              </a:ext>
            </a:extLst>
          </p:cNvPr>
          <p:cNvSpPr txBox="1"/>
          <p:nvPr/>
        </p:nvSpPr>
        <p:spPr>
          <a:xfrm>
            <a:off x="228600" y="0"/>
            <a:ext cx="11963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 — Classes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A class is a blueprint for objects that groups data (attributes) and behavior (methods). In ETL, classes encapsulate extract/transform/load logic so each component is reusable and testable.</a:t>
            </a:r>
          </a:p>
          <a:p>
            <a:pPr>
              <a:buNone/>
            </a:pPr>
            <a:r>
              <a:rPr lang="en-US" b="1" dirty="0"/>
              <a:t>Example (Python):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class </a:t>
            </a:r>
            <a:r>
              <a:rPr lang="en-US" b="1" dirty="0" err="1">
                <a:solidFill>
                  <a:srgbClr val="7030A0"/>
                </a:solidFill>
              </a:rPr>
              <a:t>EmployeeTransformer</a:t>
            </a:r>
            <a:r>
              <a:rPr lang="en-US" b="1" dirty="0">
                <a:solidFill>
                  <a:srgbClr val="7030A0"/>
                </a:solidFill>
              </a:rPr>
              <a:t>: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    def __</a:t>
            </a:r>
            <a:r>
              <a:rPr lang="en-US" b="1" dirty="0" err="1">
                <a:solidFill>
                  <a:srgbClr val="7030A0"/>
                </a:solidFill>
              </a:rPr>
              <a:t>init</a:t>
            </a:r>
            <a:r>
              <a:rPr lang="en-US" b="1" dirty="0">
                <a:solidFill>
                  <a:srgbClr val="7030A0"/>
                </a:solidFill>
              </a:rPr>
              <a:t>__(self, records):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        </a:t>
            </a:r>
            <a:r>
              <a:rPr lang="en-US" b="1" dirty="0" err="1">
                <a:solidFill>
                  <a:srgbClr val="7030A0"/>
                </a:solidFill>
              </a:rPr>
              <a:t>self.records</a:t>
            </a:r>
            <a:r>
              <a:rPr lang="en-US" b="1" dirty="0">
                <a:solidFill>
                  <a:srgbClr val="7030A0"/>
                </a:solidFill>
              </a:rPr>
              <a:t> = records</a:t>
            </a:r>
          </a:p>
          <a:p>
            <a:pPr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    def </a:t>
            </a:r>
            <a:r>
              <a:rPr lang="en-US" b="1" dirty="0" err="1">
                <a:solidFill>
                  <a:srgbClr val="7030A0"/>
                </a:solidFill>
              </a:rPr>
              <a:t>get_roles</a:t>
            </a:r>
            <a:r>
              <a:rPr lang="en-US" b="1" dirty="0">
                <a:solidFill>
                  <a:srgbClr val="7030A0"/>
                </a:solidFill>
              </a:rPr>
              <a:t>(self):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        return [</a:t>
            </a:r>
            <a:r>
              <a:rPr lang="en-US" b="1" dirty="0" err="1">
                <a:solidFill>
                  <a:srgbClr val="7030A0"/>
                </a:solidFill>
              </a:rPr>
              <a:t>r.get</a:t>
            </a:r>
            <a:r>
              <a:rPr lang="en-US" b="1" dirty="0">
                <a:solidFill>
                  <a:srgbClr val="7030A0"/>
                </a:solidFill>
              </a:rPr>
              <a:t>("role", "Unknown") for r in </a:t>
            </a:r>
            <a:r>
              <a:rPr lang="en-US" b="1" dirty="0" err="1">
                <a:solidFill>
                  <a:srgbClr val="7030A0"/>
                </a:solidFill>
              </a:rPr>
              <a:t>self.records</a:t>
            </a:r>
            <a:r>
              <a:rPr lang="en-US" b="1" dirty="0">
                <a:solidFill>
                  <a:srgbClr val="7030A0"/>
                </a:solidFill>
              </a:rPr>
              <a:t>]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# usage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employees = [{"</a:t>
            </a:r>
            <a:r>
              <a:rPr lang="en-US" b="1" dirty="0" err="1">
                <a:solidFill>
                  <a:srgbClr val="7030A0"/>
                </a:solidFill>
              </a:rPr>
              <a:t>name":"Ravi","role":"Manager</a:t>
            </a:r>
            <a:r>
              <a:rPr lang="en-US" b="1" dirty="0">
                <a:solidFill>
                  <a:srgbClr val="7030A0"/>
                </a:solidFill>
              </a:rPr>
              <a:t>"},{"</a:t>
            </a:r>
            <a:r>
              <a:rPr lang="en-US" b="1" dirty="0" err="1">
                <a:solidFill>
                  <a:srgbClr val="7030A0"/>
                </a:solidFill>
              </a:rPr>
              <a:t>name":"Anil</a:t>
            </a:r>
            <a:r>
              <a:rPr lang="en-US" b="1" dirty="0">
                <a:solidFill>
                  <a:srgbClr val="7030A0"/>
                </a:solidFill>
              </a:rPr>
              <a:t>"}]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t = </a:t>
            </a:r>
            <a:r>
              <a:rPr lang="en-US" b="1" dirty="0" err="1">
                <a:solidFill>
                  <a:srgbClr val="7030A0"/>
                </a:solidFill>
              </a:rPr>
              <a:t>EmployeeTransformer</a:t>
            </a:r>
            <a:r>
              <a:rPr lang="en-US" b="1" dirty="0">
                <a:solidFill>
                  <a:srgbClr val="7030A0"/>
                </a:solidFill>
              </a:rPr>
              <a:t>(employees)</a:t>
            </a:r>
          </a:p>
          <a:p>
            <a:pPr>
              <a:buNone/>
            </a:pPr>
            <a:r>
              <a:rPr lang="en-US" b="1" dirty="0">
                <a:solidFill>
                  <a:srgbClr val="7030A0"/>
                </a:solidFill>
              </a:rPr>
              <a:t>print(</a:t>
            </a:r>
            <a:r>
              <a:rPr lang="en-US" b="1" dirty="0" err="1">
                <a:solidFill>
                  <a:srgbClr val="7030A0"/>
                </a:solidFill>
              </a:rPr>
              <a:t>t.get_roles</a:t>
            </a:r>
            <a:r>
              <a:rPr lang="en-US" b="1" dirty="0">
                <a:solidFill>
                  <a:srgbClr val="7030A0"/>
                </a:solidFill>
              </a:rPr>
              <a:t>())  # ['Manager', 'Unknown']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7926D-3BD8-2470-1632-E650A2B68737}"/>
              </a:ext>
            </a:extLst>
          </p:cNvPr>
          <p:cNvSpPr txBox="1"/>
          <p:nvPr/>
        </p:nvSpPr>
        <p:spPr>
          <a:xfrm>
            <a:off x="375557" y="4833257"/>
            <a:ext cx="115878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Step-by-step explanation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EmployeeTransformer</a:t>
            </a:r>
            <a:r>
              <a:rPr lang="en-US" dirty="0"/>
              <a:t>: defines the blueprint.</a:t>
            </a:r>
          </a:p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stores input records in </a:t>
            </a:r>
            <a:r>
              <a:rPr lang="en-US" dirty="0" err="1"/>
              <a:t>self.records</a:t>
            </a:r>
            <a:r>
              <a:rPr lang="en-US" dirty="0"/>
              <a:t>.</a:t>
            </a:r>
          </a:p>
          <a:p>
            <a:r>
              <a:rPr lang="en-US" dirty="0" err="1"/>
              <a:t>get_roles</a:t>
            </a:r>
            <a:r>
              <a:rPr lang="en-US" dirty="0"/>
              <a:t>() iterates input, uses </a:t>
            </a:r>
            <a:r>
              <a:rPr lang="en-US" dirty="0" err="1"/>
              <a:t>dict.get</a:t>
            </a:r>
            <a:r>
              <a:rPr lang="en-US" dirty="0"/>
              <a:t>() to safely fetch role with fallback "Unknown".</a:t>
            </a:r>
          </a:p>
          <a:p>
            <a:r>
              <a:rPr lang="en-US" dirty="0"/>
              <a:t>Instantiating t gives an object you can reuse across ETL batches — good for unit tests and swapping implementations.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92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1FD9C-8039-200E-821A-841C2F19D12B}"/>
              </a:ext>
            </a:extLst>
          </p:cNvPr>
          <p:cNvSpPr txBox="1"/>
          <p:nvPr/>
        </p:nvSpPr>
        <p:spPr>
          <a:xfrm>
            <a:off x="114300" y="-2"/>
            <a:ext cx="1207769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 — Error handling (try/except) with logging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>
                <a:latin typeface="Courier New" panose="02070309020205020404" pitchFamily="49" charset="0"/>
              </a:rPr>
              <a:t>try/except</a:t>
            </a:r>
            <a:r>
              <a:rPr lang="en-IN" dirty="0"/>
              <a:t> captures runtime errors; </a:t>
            </a:r>
            <a:r>
              <a:rPr lang="en-IN" dirty="0">
                <a:latin typeface="Courier New" panose="02070309020205020404" pitchFamily="49" charset="0"/>
              </a:rPr>
              <a:t>logging</a:t>
            </a:r>
            <a:r>
              <a:rPr lang="en-IN" dirty="0"/>
              <a:t> records what happened. Together they prevent pipeline crashes and provide traceable diagnostics.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(Python)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logging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logging.basicConfig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(level=logging.INFO)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def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parse_record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(rec):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try: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name = rec["name"]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role = rec["role"]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return {"name": name, "role": role}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except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KeyError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as e: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logging.error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f"Missing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key: {e} in record: {rec}")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return None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r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parse_record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({"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name":"Ravi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"})  # logs missing 'role’</a:t>
            </a: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logging.basicConfig</a:t>
            </a:r>
            <a:r>
              <a:rPr lang="en-IN" dirty="0"/>
              <a:t> configures output level.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try</a:t>
            </a:r>
            <a:r>
              <a:rPr lang="en-IN" dirty="0"/>
              <a:t> block attempts to access required keys.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except </a:t>
            </a:r>
            <a:r>
              <a:rPr lang="en-IN" dirty="0" err="1">
                <a:latin typeface="Courier New" panose="02070309020205020404" pitchFamily="49" charset="0"/>
              </a:rPr>
              <a:t>KeyError</a:t>
            </a:r>
            <a:r>
              <a:rPr lang="en-IN" dirty="0"/>
              <a:t> catches missing fields and logs an error with context — instead of raising.</a:t>
            </a:r>
          </a:p>
          <a:p>
            <a:pPr>
              <a:buFont typeface="+mj-lt"/>
              <a:buAutoNum type="arabicPeriod"/>
            </a:pPr>
            <a:r>
              <a:rPr lang="en-IN" dirty="0"/>
              <a:t>Function returns </a:t>
            </a:r>
            <a:r>
              <a:rPr lang="en-IN" dirty="0">
                <a:latin typeface="Courier New" panose="02070309020205020404" pitchFamily="49" charset="0"/>
              </a:rPr>
              <a:t>None</a:t>
            </a:r>
            <a:r>
              <a:rPr lang="en-IN" dirty="0"/>
              <a:t> for invalid records; ETL runner can skip or count these for reporting.</a:t>
            </a:r>
          </a:p>
        </p:txBody>
      </p:sp>
    </p:spTree>
    <p:extLst>
      <p:ext uri="{BB962C8B-B14F-4D97-AF65-F5344CB8AC3E}">
        <p14:creationId xmlns:p14="http://schemas.microsoft.com/office/powerpoint/2010/main" val="308040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1B3FCF-C256-F026-7203-197CA09F6AF8}"/>
              </a:ext>
            </a:extLst>
          </p:cNvPr>
          <p:cNvSpPr txBox="1"/>
          <p:nvPr/>
        </p:nvSpPr>
        <p:spPr>
          <a:xfrm>
            <a:off x="0" y="-1049149"/>
            <a:ext cx="11952514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3 — Examples: use small JSON snippets similar to work data (parse employees, loop roles, output rows)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Work-style JSON examples mimic real incoming payloads (nested, sometimes incomplete). Parsers should robustly iterate and normalize them to rows.</a:t>
            </a:r>
          </a:p>
          <a:p>
            <a:pPr>
              <a:buNone/>
            </a:pPr>
            <a:r>
              <a:rPr lang="en-IN" b="1" dirty="0"/>
              <a:t>Example (JSON + Python)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payload = {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"employees":[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{"id":1,"name":"Ravi","roles":["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Manager","HR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"]},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{"id":2,"name":"Anil","roles":[]},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{"id":3,"name":"Sara"}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rows = []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for e in payload["employees"]: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roles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e.get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("roles") or ["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NoRole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for r in roles: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rows.append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({"id": e["id"], "name":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e.get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name","Unknown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"), "role": r})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# rows now contains flattened rows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payload["employees"]</a:t>
            </a:r>
            <a:r>
              <a:rPr lang="en-IN" dirty="0"/>
              <a:t> gives list of employee </a:t>
            </a:r>
            <a:r>
              <a:rPr lang="en-IN" dirty="0" err="1"/>
              <a:t>dicts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e.get</a:t>
            </a:r>
            <a:r>
              <a:rPr lang="en-IN" dirty="0">
                <a:latin typeface="Courier New" panose="02070309020205020404" pitchFamily="49" charset="0"/>
              </a:rPr>
              <a:t>("roles") or ["</a:t>
            </a:r>
            <a:r>
              <a:rPr lang="en-IN" dirty="0" err="1">
                <a:latin typeface="Courier New" panose="02070309020205020404" pitchFamily="49" charset="0"/>
              </a:rPr>
              <a:t>NoRole</a:t>
            </a:r>
            <a:r>
              <a:rPr lang="en-IN" dirty="0">
                <a:latin typeface="Courier New" panose="02070309020205020404" pitchFamily="49" charset="0"/>
              </a:rPr>
              <a:t>"]</a:t>
            </a:r>
            <a:r>
              <a:rPr lang="en-IN" dirty="0"/>
              <a:t> ensures empty/missing lists handled.</a:t>
            </a:r>
          </a:p>
          <a:p>
            <a:pPr>
              <a:buFont typeface="+mj-lt"/>
              <a:buAutoNum type="arabicPeriod"/>
            </a:pPr>
            <a:r>
              <a:rPr lang="en-IN" dirty="0"/>
              <a:t>Nested </a:t>
            </a:r>
            <a:r>
              <a:rPr lang="en-IN" dirty="0">
                <a:latin typeface="Courier New" panose="02070309020205020404" pitchFamily="49" charset="0"/>
              </a:rPr>
              <a:t>for r in roles</a:t>
            </a:r>
            <a:r>
              <a:rPr lang="en-IN" dirty="0"/>
              <a:t> flattens multiple roles into separate rows.</a:t>
            </a:r>
          </a:p>
          <a:p>
            <a:pPr>
              <a:buFont typeface="+mj-lt"/>
              <a:buAutoNum type="arabicPeriod"/>
            </a:pPr>
            <a:r>
              <a:rPr lang="en-IN" dirty="0"/>
              <a:t>Resulting </a:t>
            </a:r>
            <a:r>
              <a:rPr lang="en-IN" dirty="0">
                <a:latin typeface="Courier New" panose="02070309020205020404" pitchFamily="49" charset="0"/>
              </a:rPr>
              <a:t>rows</a:t>
            </a:r>
            <a:r>
              <a:rPr lang="en-IN" dirty="0"/>
              <a:t> can be converted to a </a:t>
            </a:r>
            <a:r>
              <a:rPr lang="en-IN" dirty="0" err="1"/>
              <a:t>DataFrame</a:t>
            </a:r>
            <a:r>
              <a:rPr lang="en-IN" dirty="0"/>
              <a:t> and exported.</a:t>
            </a:r>
          </a:p>
        </p:txBody>
      </p:sp>
    </p:spTree>
    <p:extLst>
      <p:ext uri="{BB962C8B-B14F-4D97-AF65-F5344CB8AC3E}">
        <p14:creationId xmlns:p14="http://schemas.microsoft.com/office/powerpoint/2010/main" val="154425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73AAA-E5BB-9D45-1795-91D9537B5232}"/>
              </a:ext>
            </a:extLst>
          </p:cNvPr>
          <p:cNvSpPr txBox="1"/>
          <p:nvPr/>
        </p:nvSpPr>
        <p:spPr>
          <a:xfrm>
            <a:off x="114300" y="335846"/>
            <a:ext cx="110217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 — Exporting (</a:t>
            </a:r>
            <a:r>
              <a:rPr lang="en-IN" b="1" dirty="0" err="1"/>
              <a:t>to_csv</a:t>
            </a:r>
            <a:r>
              <a:rPr lang="en-IN" b="1" dirty="0"/>
              <a:t>, </a:t>
            </a:r>
            <a:r>
              <a:rPr lang="en-IN" b="1" dirty="0" err="1"/>
              <a:t>to_parquet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Export transforms to a persistent format. CSV is interoperable; Parquet is columnar, compressed, and efficient for analytics.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(pandas):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pandas as pd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pd.DataFrame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([{"id":1,"name":"Ravi","role":"Manager"},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           {"id":2,"name":"Anil","role":"Engineer"}])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df.to_csv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("employees.csv", index=False)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df.to_parquet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employees.parquet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", index=False)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Create </a:t>
            </a:r>
            <a:r>
              <a:rPr lang="en-IN" dirty="0" err="1">
                <a:latin typeface="Courier New" panose="02070309020205020404" pitchFamily="49" charset="0"/>
              </a:rPr>
              <a:t>DataFrame</a:t>
            </a:r>
            <a:r>
              <a:rPr lang="en-IN" dirty="0"/>
              <a:t> from rows.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to_csv</a:t>
            </a:r>
            <a:r>
              <a:rPr lang="en-IN" dirty="0"/>
              <a:t> writes human-readable file (good for QA).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to_parquet</a:t>
            </a:r>
            <a:r>
              <a:rPr lang="en-IN" dirty="0"/>
              <a:t> writes optimized binary file for storage &amp; query engines (Athena/Glue).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>
                <a:latin typeface="Courier New" panose="02070309020205020404" pitchFamily="49" charset="0"/>
              </a:rPr>
              <a:t>index=False</a:t>
            </a:r>
            <a:r>
              <a:rPr lang="en-IN" dirty="0"/>
              <a:t> to avoid extra pandas index column.</a:t>
            </a:r>
          </a:p>
        </p:txBody>
      </p:sp>
    </p:spTree>
    <p:extLst>
      <p:ext uri="{BB962C8B-B14F-4D97-AF65-F5344CB8AC3E}">
        <p14:creationId xmlns:p14="http://schemas.microsoft.com/office/powerpoint/2010/main" val="296643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78AB73-C96F-BBB0-41CB-08E42C95CDA6}"/>
              </a:ext>
            </a:extLst>
          </p:cNvPr>
          <p:cNvSpPr txBox="1"/>
          <p:nvPr/>
        </p:nvSpPr>
        <p:spPr>
          <a:xfrm>
            <a:off x="114300" y="195943"/>
            <a:ext cx="111687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 — Examples: work with my own data sample JSONs, not random calculators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Use real-schema sample JSONs so training examples and tests reflect production shapes and edge cases.</a:t>
            </a:r>
          </a:p>
          <a:p>
            <a:pPr>
              <a:buNone/>
            </a:pPr>
            <a:r>
              <a:rPr lang="en-US" b="1" dirty="0"/>
              <a:t>Example (practice pattern):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</a:rPr>
              <a:t># sample schema-based </a:t>
            </a:r>
            <a:r>
              <a:rPr lang="en-US" dirty="0" err="1">
                <a:solidFill>
                  <a:srgbClr val="7030A0"/>
                </a:solidFill>
                <a:latin typeface="Courier New" panose="02070309020205020404" pitchFamily="49" charset="0"/>
              </a:rPr>
              <a:t>json</a:t>
            </a:r>
            <a:endParaRPr lang="en-US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</a:rPr>
              <a:t>sample = {"employees":[{"id":1,"name":"Ravi","meta":{"joined":"2022-01-01"}}]}</a:t>
            </a:r>
          </a:p>
          <a:p>
            <a:pPr rtl="0"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</a:rPr>
              <a:t># transformation uses the same field names as production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Build sample JSONs with nested fields, missing keys, and arrays to mimic production.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unit tests against these samples to validate behavior.</a:t>
            </a:r>
          </a:p>
          <a:p>
            <a:pPr>
              <a:buFont typeface="+mj-lt"/>
              <a:buAutoNum type="arabicPeriod"/>
            </a:pPr>
            <a:r>
              <a:rPr lang="en-US" dirty="0"/>
              <a:t>Keep sample JSONs under </a:t>
            </a:r>
            <a:r>
              <a:rPr lang="en-US" dirty="0">
                <a:latin typeface="Courier New" panose="02070309020205020404" pitchFamily="49" charset="0"/>
              </a:rPr>
              <a:t>/tests/fixtures/</a:t>
            </a:r>
            <a:r>
              <a:rPr lang="en-US" dirty="0"/>
              <a:t> to reuse in CI.</a:t>
            </a:r>
          </a:p>
        </p:txBody>
      </p:sp>
    </p:spTree>
    <p:extLst>
      <p:ext uri="{BB962C8B-B14F-4D97-AF65-F5344CB8AC3E}">
        <p14:creationId xmlns:p14="http://schemas.microsoft.com/office/powerpoint/2010/main" val="12278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B4485-D830-D940-762F-4F7EF77B1C3D}"/>
              </a:ext>
            </a:extLst>
          </p:cNvPr>
          <p:cNvSpPr txBox="1"/>
          <p:nvPr/>
        </p:nvSpPr>
        <p:spPr>
          <a:xfrm>
            <a:off x="179615" y="211327"/>
            <a:ext cx="90296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6 — JSON &amp; APIs — Reading JSON (</a:t>
            </a:r>
            <a:r>
              <a:rPr lang="en-IN" b="1" dirty="0" err="1"/>
              <a:t>json.loads</a:t>
            </a:r>
            <a:r>
              <a:rPr lang="en-IN" b="1" dirty="0"/>
              <a:t>, </a:t>
            </a:r>
            <a:r>
              <a:rPr lang="en-IN" b="1" dirty="0" err="1"/>
              <a:t>json.dumps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 err="1">
                <a:latin typeface="Courier New" panose="02070309020205020404" pitchFamily="49" charset="0"/>
              </a:rPr>
              <a:t>json.loads</a:t>
            </a:r>
            <a:r>
              <a:rPr lang="en-IN" dirty="0"/>
              <a:t> parses JSON strings to Python objects; </a:t>
            </a:r>
            <a:r>
              <a:rPr lang="en-IN" dirty="0" err="1">
                <a:latin typeface="Courier New" panose="02070309020205020404" pitchFamily="49" charset="0"/>
              </a:rPr>
              <a:t>json.dumps</a:t>
            </a:r>
            <a:r>
              <a:rPr lang="en-IN" dirty="0"/>
              <a:t> serializes Python objects to JSON strings.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(Python)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json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 = '{"id":1,"name":"Ravi"}'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obj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json.loads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(s)         #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dict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s2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json.dumps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obj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        # string again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json.loads</a:t>
            </a:r>
            <a:r>
              <a:rPr lang="en-IN" dirty="0"/>
              <a:t> converts API response text to </a:t>
            </a:r>
            <a:r>
              <a:rPr lang="en-IN" dirty="0" err="1"/>
              <a:t>dict</a:t>
            </a:r>
            <a:r>
              <a:rPr lang="en-IN" dirty="0"/>
              <a:t>/list.</a:t>
            </a:r>
          </a:p>
          <a:p>
            <a:pPr>
              <a:buFont typeface="+mj-lt"/>
              <a:buAutoNum type="arabicPeriod"/>
            </a:pPr>
            <a:r>
              <a:rPr lang="en-IN" dirty="0"/>
              <a:t>Modify </a:t>
            </a:r>
            <a:r>
              <a:rPr lang="en-IN" dirty="0" err="1"/>
              <a:t>dicts</a:t>
            </a:r>
            <a:r>
              <a:rPr lang="en-IN" dirty="0"/>
              <a:t> in Python.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json.dumps</a:t>
            </a:r>
            <a:r>
              <a:rPr lang="en-IN" dirty="0"/>
              <a:t> used when sending data to APIs or saving JSON files.</a:t>
            </a:r>
          </a:p>
        </p:txBody>
      </p:sp>
    </p:spTree>
    <p:extLst>
      <p:ext uri="{BB962C8B-B14F-4D97-AF65-F5344CB8AC3E}">
        <p14:creationId xmlns:p14="http://schemas.microsoft.com/office/powerpoint/2010/main" val="408697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E1F33-6EB6-3B67-870E-52C5B961F10E}"/>
              </a:ext>
            </a:extLst>
          </p:cNvPr>
          <p:cNvSpPr txBox="1"/>
          <p:nvPr/>
        </p:nvSpPr>
        <p:spPr>
          <a:xfrm>
            <a:off x="0" y="612845"/>
            <a:ext cx="916032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7 — Nested JSON navigation (</a:t>
            </a:r>
            <a:r>
              <a:rPr lang="en-IN" b="1" dirty="0" err="1"/>
              <a:t>dict.get</a:t>
            </a:r>
            <a:r>
              <a:rPr lang="en-IN" b="1" dirty="0"/>
              <a:t>, nested loops)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Access deeply nested keys using safe lookups (</a:t>
            </a:r>
            <a:r>
              <a:rPr lang="en-IN" dirty="0">
                <a:latin typeface="Courier New" panose="02070309020205020404" pitchFamily="49" charset="0"/>
              </a:rPr>
              <a:t>get</a:t>
            </a:r>
            <a:r>
              <a:rPr lang="en-IN" dirty="0"/>
              <a:t>), loops, or helper flattening functions to handle missing fields gracefully.</a:t>
            </a:r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data = {"employees":[{"id":1,"profile":{"name":"Ravi","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addr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":{"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city":"Bengaluru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"}}}]}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for e in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data.get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("employees", []):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name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e.get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("profile", {}).get("name")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city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e.get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("profile", {}).get("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addr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", {}).get("city", "Unknown")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print(name, city)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.get("employees", [])</a:t>
            </a:r>
            <a:r>
              <a:rPr lang="en-IN" dirty="0"/>
              <a:t> avoids </a:t>
            </a:r>
            <a:r>
              <a:rPr lang="en-IN" dirty="0" err="1"/>
              <a:t>KeyError</a:t>
            </a:r>
            <a:r>
              <a:rPr lang="en-IN" dirty="0"/>
              <a:t> if no employees.</a:t>
            </a:r>
          </a:p>
          <a:p>
            <a:pPr>
              <a:buFont typeface="+mj-lt"/>
              <a:buAutoNum type="arabicPeriod"/>
            </a:pPr>
            <a:r>
              <a:rPr lang="en-IN" dirty="0"/>
              <a:t>Chain </a:t>
            </a:r>
            <a:r>
              <a:rPr lang="en-IN" dirty="0">
                <a:latin typeface="Courier New" panose="02070309020205020404" pitchFamily="49" charset="0"/>
              </a:rPr>
              <a:t>get({...})</a:t>
            </a:r>
            <a:r>
              <a:rPr lang="en-IN" dirty="0"/>
              <a:t> with empty </a:t>
            </a:r>
            <a:r>
              <a:rPr lang="en-IN" dirty="0" err="1"/>
              <a:t>dict</a:t>
            </a:r>
            <a:r>
              <a:rPr lang="en-IN" dirty="0"/>
              <a:t> fallback for nested fields.</a:t>
            </a:r>
          </a:p>
          <a:p>
            <a:pPr>
              <a:buFont typeface="+mj-lt"/>
              <a:buAutoNum type="arabicPeriod"/>
            </a:pPr>
            <a:r>
              <a:rPr lang="en-IN" dirty="0"/>
              <a:t>Provide defaults ("Unknown") where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311706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C4455-FE50-456B-1E2C-491828E2D4A7}"/>
              </a:ext>
            </a:extLst>
          </p:cNvPr>
          <p:cNvSpPr txBox="1"/>
          <p:nvPr/>
        </p:nvSpPr>
        <p:spPr>
          <a:xfrm>
            <a:off x="342900" y="163285"/>
            <a:ext cx="904602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8 — Flattening JSON into tabular rows (what your transformer does)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Flattening converts nested JSON to rows/columns suitable for </a:t>
            </a:r>
            <a:r>
              <a:rPr lang="en-IN" dirty="0" err="1"/>
              <a:t>DataFrames</a:t>
            </a:r>
            <a:r>
              <a:rPr lang="en-IN" dirty="0"/>
              <a:t> and relational storage.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rows = []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for e in data["employees"]: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rows.append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({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"id": e["id"],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"name": e["profile"]["name"],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"city": e["profile"].get("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addr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", {}).get("city")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})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#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pd.DataFrame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(rows)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Iterate over top-level list.</a:t>
            </a:r>
          </a:p>
          <a:p>
            <a:pPr>
              <a:buFont typeface="+mj-lt"/>
              <a:buAutoNum type="arabicPeriod"/>
            </a:pPr>
            <a:r>
              <a:rPr lang="en-IN" dirty="0"/>
              <a:t>Extract nested values into flat keys (e.g., </a:t>
            </a:r>
            <a:r>
              <a:rPr lang="en-IN" dirty="0">
                <a:latin typeface="Courier New" panose="02070309020205020404" pitchFamily="49" charset="0"/>
              </a:rPr>
              <a:t>profile.name</a:t>
            </a:r>
            <a:r>
              <a:rPr lang="en-IN" dirty="0"/>
              <a:t> → </a:t>
            </a:r>
            <a:r>
              <a:rPr lang="en-IN" dirty="0">
                <a:latin typeface="Courier New" panose="02070309020205020404" pitchFamily="49" charset="0"/>
              </a:rPr>
              <a:t>name</a:t>
            </a:r>
            <a:r>
              <a:rPr lang="en-IN" dirty="0"/>
              <a:t>).</a:t>
            </a:r>
          </a:p>
          <a:p>
            <a:pPr>
              <a:buFont typeface="+mj-lt"/>
              <a:buAutoNum type="arabicPeriod"/>
            </a:pPr>
            <a:r>
              <a:rPr lang="en-IN" dirty="0"/>
              <a:t>Handle missing nested dictionaries with </a:t>
            </a:r>
            <a:r>
              <a:rPr lang="en-IN" dirty="0">
                <a:latin typeface="Courier New" panose="02070309020205020404" pitchFamily="49" charset="0"/>
              </a:rPr>
              <a:t>get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25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D6790-612B-72B3-E1F8-59CACA40BAC9}"/>
              </a:ext>
            </a:extLst>
          </p:cNvPr>
          <p:cNvSpPr txBox="1"/>
          <p:nvPr/>
        </p:nvSpPr>
        <p:spPr>
          <a:xfrm>
            <a:off x="244929" y="244929"/>
            <a:ext cx="89153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9 — Calling APIs with requests and handling responses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>
                <a:latin typeface="Courier New" panose="02070309020205020404" pitchFamily="49" charset="0"/>
              </a:rPr>
              <a:t>requests</a:t>
            </a:r>
            <a:r>
              <a:rPr lang="en-IN" dirty="0"/>
              <a:t> library calls REST APIs; handle status codes, timeouts, and JSON parsing robustly.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requests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resp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requests.get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("https://api.example.com/employees", timeout=5)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if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resp.status_code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== 200: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data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resp.json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# retry, log, or raise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print("API error",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resp.status_code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requests.get</a:t>
            </a:r>
            <a:r>
              <a:rPr lang="en-IN" dirty="0"/>
              <a:t> fetches data; set </a:t>
            </a:r>
            <a:r>
              <a:rPr lang="en-IN" dirty="0">
                <a:latin typeface="Courier New" panose="02070309020205020404" pitchFamily="49" charset="0"/>
              </a:rPr>
              <a:t>timeout</a:t>
            </a:r>
            <a:r>
              <a:rPr lang="en-IN" dirty="0"/>
              <a:t> to avoid hangs.</a:t>
            </a:r>
          </a:p>
          <a:p>
            <a:pPr>
              <a:buFont typeface="+mj-lt"/>
              <a:buAutoNum type="arabicPeriod"/>
            </a:pPr>
            <a:r>
              <a:rPr lang="en-IN" dirty="0"/>
              <a:t>Check </a:t>
            </a:r>
            <a:r>
              <a:rPr lang="en-IN" dirty="0" err="1">
                <a:latin typeface="Courier New" panose="02070309020205020404" pitchFamily="49" charset="0"/>
              </a:rPr>
              <a:t>status_code</a:t>
            </a:r>
            <a:r>
              <a:rPr lang="en-IN" dirty="0"/>
              <a:t> before parsing to avoid exceptions.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resp.json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is shorthand for </a:t>
            </a:r>
            <a:r>
              <a:rPr lang="en-IN" dirty="0" err="1">
                <a:latin typeface="Courier New" panose="02070309020205020404" pitchFamily="49" charset="0"/>
              </a:rPr>
              <a:t>json.loads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resp.text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7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57A0D-F613-5596-82D8-9C4C319F9619}"/>
              </a:ext>
            </a:extLst>
          </p:cNvPr>
          <p:cNvSpPr txBox="1"/>
          <p:nvPr/>
        </p:nvSpPr>
        <p:spPr>
          <a:xfrm>
            <a:off x="163286" y="228601"/>
            <a:ext cx="102706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10 — Simulate real data API responses during training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Mock or record API responses (fixtures) so training/testing doesn’t depend on live services.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 (</a:t>
            </a:r>
            <a:r>
              <a:rPr lang="en-US" b="1" dirty="0" err="1"/>
              <a:t>pytest</a:t>
            </a:r>
            <a:r>
              <a:rPr lang="en-US" b="1" dirty="0"/>
              <a:t> + requests-mock concept)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# pseudo-code: load fixture from tests/fixtures/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employees.json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and return as response</a:t>
            </a:r>
          </a:p>
          <a:p>
            <a:pPr rtl="0">
              <a:buNone/>
            </a:pPr>
            <a:endParaRPr lang="en-US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Save representative API JSON to fixtures.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responses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requests-mock</a:t>
            </a:r>
            <a:r>
              <a:rPr lang="en-US" dirty="0"/>
              <a:t> in tests to return fixture.</a:t>
            </a:r>
          </a:p>
          <a:p>
            <a:pPr>
              <a:buFont typeface="+mj-lt"/>
              <a:buAutoNum type="arabicPeriod"/>
            </a:pPr>
            <a:r>
              <a:rPr lang="en-US" dirty="0"/>
              <a:t>Ensures deterministic tests and safe local runs.</a:t>
            </a:r>
          </a:p>
        </p:txBody>
      </p:sp>
    </p:spTree>
    <p:extLst>
      <p:ext uri="{BB962C8B-B14F-4D97-AF65-F5344CB8AC3E}">
        <p14:creationId xmlns:p14="http://schemas.microsoft.com/office/powerpoint/2010/main" val="185325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4CAAD7-85C5-30DF-8BE3-C9EDC0CA840F}"/>
              </a:ext>
            </a:extLst>
          </p:cNvPr>
          <p:cNvSpPr txBox="1"/>
          <p:nvPr/>
        </p:nvSpPr>
        <p:spPr>
          <a:xfrm>
            <a:off x="359229" y="293914"/>
            <a:ext cx="880109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11 — ETL Design Patterns — How to structure Transformers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Transformers are components that accept raw input and return normalized data. Good structure separates parsing, cleaning, enrichment, and validation.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(class pattern)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class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BaseTransformer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parse(self, raw): 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clean(self,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): 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validate(self,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): 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transform(self, raw):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data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self.parse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(raw)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self.clean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(data)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self.validate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return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parse</a:t>
            </a:r>
            <a:r>
              <a:rPr lang="en-IN" dirty="0"/>
              <a:t> converts JSON → rows.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clean</a:t>
            </a:r>
            <a:r>
              <a:rPr lang="en-IN" dirty="0"/>
              <a:t> handles types, nulls, renames.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validate</a:t>
            </a:r>
            <a:r>
              <a:rPr lang="en-IN" dirty="0"/>
              <a:t> asserts schema rules.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transform</a:t>
            </a:r>
            <a:r>
              <a:rPr lang="en-IN" dirty="0"/>
              <a:t> orchestrates the steps in order.</a:t>
            </a:r>
          </a:p>
        </p:txBody>
      </p:sp>
    </p:spTree>
    <p:extLst>
      <p:ext uri="{BB962C8B-B14F-4D97-AF65-F5344CB8AC3E}">
        <p14:creationId xmlns:p14="http://schemas.microsoft.com/office/powerpoint/2010/main" val="133619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C4C27D-05C5-990D-11B7-8B08AA14262C}"/>
              </a:ext>
            </a:extLst>
          </p:cNvPr>
          <p:cNvSpPr txBox="1"/>
          <p:nvPr/>
        </p:nvSpPr>
        <p:spPr>
          <a:xfrm>
            <a:off x="114300" y="163286"/>
            <a:ext cx="90460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12 — Separating transform logic vs persistence logic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Keep transformation pure (no side-effects). Persistence (writing to S3/DB) belongs to separate classes/services.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Example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class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Persister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to_csv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(self,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path):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df.to_csv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(path, index=False)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to_s3(self,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bucket, key): ...  # uses boto3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Transformer returns </a:t>
            </a:r>
            <a:r>
              <a:rPr lang="en-IN" dirty="0" err="1">
                <a:latin typeface="Courier New" panose="02070309020205020404" pitchFamily="49" charset="0"/>
              </a:rPr>
              <a:t>df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dirty="0" err="1"/>
              <a:t>Persister</a:t>
            </a:r>
            <a:r>
              <a:rPr lang="en-IN" dirty="0"/>
              <a:t> handles saving.</a:t>
            </a:r>
          </a:p>
          <a:p>
            <a:pPr>
              <a:buFont typeface="+mj-lt"/>
              <a:buAutoNum type="arabicPeriod"/>
            </a:pPr>
            <a:r>
              <a:rPr lang="en-IN" dirty="0"/>
              <a:t>This separation simplifies unit testing (test transform without I/O).</a:t>
            </a:r>
          </a:p>
        </p:txBody>
      </p:sp>
    </p:spTree>
    <p:extLst>
      <p:ext uri="{BB962C8B-B14F-4D97-AF65-F5344CB8AC3E}">
        <p14:creationId xmlns:p14="http://schemas.microsoft.com/office/powerpoint/2010/main" val="276836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CEF26A-EB15-ECDF-43AE-ED77A8319F86}"/>
              </a:ext>
            </a:extLst>
          </p:cNvPr>
          <p:cNvSpPr txBox="1"/>
          <p:nvPr/>
        </p:nvSpPr>
        <p:spPr>
          <a:xfrm>
            <a:off x="244929" y="195943"/>
            <a:ext cx="89153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13 — Using config files (YAML/JSON) for environment-specific details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Config files store environment-specific values (paths, credentials, feature toggles) separate from code.</a:t>
            </a:r>
          </a:p>
          <a:p>
            <a:pPr>
              <a:buNone/>
            </a:pPr>
            <a:r>
              <a:rPr lang="en-IN" b="1" dirty="0"/>
              <a:t>Example (YAML)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dev: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s3_bucket: 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-dev"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prod: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s3_bucket: 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-prod"</a:t>
            </a:r>
          </a:p>
          <a:p>
            <a:pPr>
              <a:buNone/>
            </a:pPr>
            <a:r>
              <a:rPr lang="en-IN" dirty="0"/>
              <a:t>Python: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yaml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env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os.getenv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ENV","dev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cfg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yaml.safe_load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(open("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config.yml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"))[env]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Keep separate keys per env.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ENV</a:t>
            </a:r>
            <a:r>
              <a:rPr lang="en-IN" dirty="0"/>
              <a:t> variable selects correct section at runtime.</a:t>
            </a:r>
          </a:p>
          <a:p>
            <a:pPr>
              <a:buFont typeface="+mj-lt"/>
              <a:buAutoNum type="arabicPeriod"/>
            </a:pPr>
            <a:r>
              <a:rPr lang="en-IN" dirty="0"/>
              <a:t>Avoid hardcoding and enable safer deploys.</a:t>
            </a:r>
          </a:p>
        </p:txBody>
      </p:sp>
    </p:spTree>
    <p:extLst>
      <p:ext uri="{BB962C8B-B14F-4D97-AF65-F5344CB8AC3E}">
        <p14:creationId xmlns:p14="http://schemas.microsoft.com/office/powerpoint/2010/main" val="170839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A1309-1E57-96CC-3633-46AA4EC90FA7}"/>
              </a:ext>
            </a:extLst>
          </p:cNvPr>
          <p:cNvSpPr txBox="1"/>
          <p:nvPr/>
        </p:nvSpPr>
        <p:spPr>
          <a:xfrm>
            <a:off x="179614" y="179615"/>
            <a:ext cx="89807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14 — Logging &amp; exception handling in ETL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Consistent logging across components records progress and errors; structured logs improve monitoring and alerting.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logging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logger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logging.getLogger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logger.info("Starting batch id=123")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try: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process_batch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except Exception as e: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logger.exception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("Batch failed")  # includes stack trace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Use dedicated logger names per module.</a:t>
            </a:r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logger.exception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logs </a:t>
            </a:r>
            <a:r>
              <a:rPr lang="en-IN" dirty="0" err="1"/>
              <a:t>stacktrace</a:t>
            </a:r>
            <a:r>
              <a:rPr lang="en-IN" dirty="0"/>
              <a:t> (good for debugging).</a:t>
            </a:r>
          </a:p>
          <a:p>
            <a:pPr>
              <a:buFont typeface="+mj-lt"/>
              <a:buAutoNum type="arabicPeriod"/>
            </a:pPr>
            <a:r>
              <a:rPr lang="en-IN" dirty="0"/>
              <a:t>Structured fields (batch id, file name) make logs searchable.</a:t>
            </a:r>
          </a:p>
        </p:txBody>
      </p:sp>
    </p:spTree>
    <p:extLst>
      <p:ext uri="{BB962C8B-B14F-4D97-AF65-F5344CB8AC3E}">
        <p14:creationId xmlns:p14="http://schemas.microsoft.com/office/powerpoint/2010/main" val="3971080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113360-7C41-C556-F21A-D73C5F59DFD3}"/>
              </a:ext>
            </a:extLst>
          </p:cNvPr>
          <p:cNvSpPr txBox="1"/>
          <p:nvPr/>
        </p:nvSpPr>
        <p:spPr>
          <a:xfrm>
            <a:off x="244929" y="310243"/>
            <a:ext cx="929095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15 — Example: practice with transformer classes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A full transformer class includes parse, transform, and small validation; used in integration tests.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class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EmployeeTransformer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BaseTransformer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parse(self, raw): 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clean(self,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): 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validate(self,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): ...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Write unit tests for </a:t>
            </a:r>
            <a:r>
              <a:rPr lang="en-IN" dirty="0">
                <a:latin typeface="Courier New" panose="02070309020205020404" pitchFamily="49" charset="0"/>
              </a:rPr>
              <a:t>parse</a:t>
            </a:r>
            <a:r>
              <a:rPr lang="en-IN" dirty="0"/>
              <a:t> with sample JSON fixtures.</a:t>
            </a:r>
          </a:p>
          <a:p>
            <a:pPr>
              <a:buFont typeface="+mj-lt"/>
              <a:buAutoNum type="arabicPeriod"/>
            </a:pPr>
            <a:r>
              <a:rPr lang="en-IN" dirty="0"/>
              <a:t>Validate </a:t>
            </a:r>
            <a:r>
              <a:rPr lang="en-IN" dirty="0">
                <a:latin typeface="Courier New" panose="02070309020205020404" pitchFamily="49" charset="0"/>
              </a:rPr>
              <a:t>clean</a:t>
            </a:r>
            <a:r>
              <a:rPr lang="en-IN" dirty="0"/>
              <a:t> fixes nulls &amp; types.</a:t>
            </a:r>
          </a:p>
          <a:p>
            <a:pPr>
              <a:buFont typeface="+mj-lt"/>
              <a:buAutoNum type="arabicPeriod"/>
            </a:pPr>
            <a:r>
              <a:rPr lang="en-IN" dirty="0"/>
              <a:t>Integrate into ETL runner for end-to-end.</a:t>
            </a:r>
          </a:p>
        </p:txBody>
      </p:sp>
    </p:spTree>
    <p:extLst>
      <p:ext uri="{BB962C8B-B14F-4D97-AF65-F5344CB8AC3E}">
        <p14:creationId xmlns:p14="http://schemas.microsoft.com/office/powerpoint/2010/main" val="4022006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2BB0F-86D2-7494-E109-0D4B454884FE}"/>
              </a:ext>
            </a:extLst>
          </p:cNvPr>
          <p:cNvSpPr txBox="1"/>
          <p:nvPr/>
        </p:nvSpPr>
        <p:spPr>
          <a:xfrm>
            <a:off x="163286" y="440871"/>
            <a:ext cx="89970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16 — Persistence &amp; Storage — Writing </a:t>
            </a:r>
            <a:r>
              <a:rPr lang="en-IN" b="1" dirty="0" err="1"/>
              <a:t>DataFrames</a:t>
            </a:r>
            <a:r>
              <a:rPr lang="en-IN" b="1" dirty="0"/>
              <a:t> to CSV locally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Save </a:t>
            </a:r>
            <a:r>
              <a:rPr lang="en-IN" dirty="0" err="1"/>
              <a:t>DataFrames</a:t>
            </a:r>
            <a:r>
              <a:rPr lang="en-IN" dirty="0"/>
              <a:t> to local disk for debugging or local runs.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Example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df.to_csv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("/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tmp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/employees.csv", index=False)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Choose proper path (use </a:t>
            </a:r>
            <a:r>
              <a:rPr lang="en-IN" dirty="0" err="1">
                <a:latin typeface="Courier New" panose="02070309020205020404" pitchFamily="49" charset="0"/>
              </a:rPr>
              <a:t>os.path.join</a:t>
            </a:r>
            <a:r>
              <a:rPr lang="en-IN" dirty="0"/>
              <a:t>).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>
                <a:latin typeface="Courier New" panose="02070309020205020404" pitchFamily="49" charset="0"/>
              </a:rPr>
              <a:t>index=False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dirty="0"/>
              <a:t>Prefer atomic writes (write to temp file then rename) to avoid partial files.</a:t>
            </a:r>
          </a:p>
        </p:txBody>
      </p:sp>
    </p:spTree>
    <p:extLst>
      <p:ext uri="{BB962C8B-B14F-4D97-AF65-F5344CB8AC3E}">
        <p14:creationId xmlns:p14="http://schemas.microsoft.com/office/powerpoint/2010/main" val="3324449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4D906F-F94B-0A75-3229-6FCB9BEECA35}"/>
              </a:ext>
            </a:extLst>
          </p:cNvPr>
          <p:cNvSpPr txBox="1"/>
          <p:nvPr/>
        </p:nvSpPr>
        <p:spPr>
          <a:xfrm>
            <a:off x="146957" y="179615"/>
            <a:ext cx="90133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17 — Writing to AWS S3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boto3</a:t>
            </a:r>
            <a:r>
              <a:rPr lang="en-US" dirty="0"/>
              <a:t> to upload files/streams to S3 buckets.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  <a:endParaRPr lang="en-US" dirty="0"/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boto3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s3 = boto3.client("s3")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s3.upload_file("employees.csv", "my-bucket", "path/employees.csv")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>
                <a:latin typeface="Courier New" panose="02070309020205020404" pitchFamily="49" charset="0"/>
              </a:rPr>
              <a:t>boto3</a:t>
            </a:r>
            <a:r>
              <a:rPr lang="en-US" dirty="0"/>
              <a:t> client with appropriate creds (or role).</a:t>
            </a:r>
          </a:p>
          <a:p>
            <a:pPr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</a:rPr>
              <a:t>upload_file</a:t>
            </a:r>
            <a:r>
              <a:rPr lang="en-US" dirty="0"/>
              <a:t> handles multipart if large.</a:t>
            </a:r>
          </a:p>
          <a:p>
            <a:pPr>
              <a:buFont typeface="+mj-lt"/>
              <a:buAutoNum type="arabicPeriod"/>
            </a:pPr>
            <a:r>
              <a:rPr lang="en-US" dirty="0"/>
              <a:t>Keys should include environment prefix: </a:t>
            </a:r>
            <a:r>
              <a:rPr lang="en-US" dirty="0">
                <a:latin typeface="Courier New" panose="02070309020205020404" pitchFamily="49" charset="0"/>
              </a:rPr>
              <a:t>dev/...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prod/...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758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6A10A6-C0A5-5F21-BAA7-F3472133F229}"/>
              </a:ext>
            </a:extLst>
          </p:cNvPr>
          <p:cNvSpPr txBox="1"/>
          <p:nvPr/>
        </p:nvSpPr>
        <p:spPr>
          <a:xfrm>
            <a:off x="146957" y="244929"/>
            <a:ext cx="90133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18 — Difference between local, dev, and prod storage paths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Each environment uses separate namespaces/paths to avoid collisions and to enforce isolation.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rgbClr val="7030A0"/>
                </a:solidFill>
              </a:rPr>
              <a:t>Example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local -&gt; /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tmp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/project/employees.csv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dev   -&gt; s3://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-dev/raw/employees/...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prod  -&gt; s3://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-prod/raw/employees/...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Config drives path selection.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prefixes (raw/trusted/refined) for data zones.</a:t>
            </a:r>
          </a:p>
          <a:p>
            <a:pPr>
              <a:buFont typeface="+mj-lt"/>
              <a:buAutoNum type="arabicPeriod"/>
            </a:pPr>
            <a:r>
              <a:rPr lang="en-IN" dirty="0"/>
              <a:t>Access permissions differ by env (IAM roles for prod).</a:t>
            </a:r>
          </a:p>
        </p:txBody>
      </p:sp>
    </p:spTree>
    <p:extLst>
      <p:ext uri="{BB962C8B-B14F-4D97-AF65-F5344CB8AC3E}">
        <p14:creationId xmlns:p14="http://schemas.microsoft.com/office/powerpoint/2010/main" val="286413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663DB-B34F-C4F0-B981-7EAAAE9F0256}"/>
              </a:ext>
            </a:extLst>
          </p:cNvPr>
          <p:cNvSpPr txBox="1"/>
          <p:nvPr/>
        </p:nvSpPr>
        <p:spPr>
          <a:xfrm>
            <a:off x="228600" y="228601"/>
            <a:ext cx="89317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19 — How S3PersistenceService works under the hood (persist(</a:t>
            </a:r>
            <a:r>
              <a:rPr lang="en-US" b="1" dirty="0" err="1"/>
              <a:t>df</a:t>
            </a:r>
            <a:r>
              <a:rPr lang="en-US" b="1" dirty="0"/>
              <a:t>) flow)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A service abstracts conversion and upload: serializes </a:t>
            </a:r>
            <a:r>
              <a:rPr lang="en-US" dirty="0" err="1"/>
              <a:t>DataFrame</a:t>
            </a:r>
            <a:r>
              <a:rPr lang="en-US" dirty="0"/>
              <a:t>, writes object to S3, and verifies success.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 (concept)</a:t>
            </a:r>
            <a:endParaRPr lang="en-US" dirty="0"/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class S3PersistenceService: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   def persist(self,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, bucket, key):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csv =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df.to_csv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(index=False)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s3.put_object(Bucket=bucket, Key=key, Body=csv)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# optional checksum or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head_object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to verify</a:t>
            </a:r>
          </a:p>
          <a:p>
            <a:pPr rtl="0">
              <a:buNone/>
            </a:pPr>
            <a:endParaRPr lang="en-US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Convert </a:t>
            </a:r>
            <a:r>
              <a:rPr lang="en-US" dirty="0" err="1"/>
              <a:t>df</a:t>
            </a:r>
            <a:r>
              <a:rPr lang="en-US" dirty="0"/>
              <a:t> to bytes/string in memory (avoid disk for speed).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</a:rPr>
              <a:t>put_object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</a:rPr>
              <a:t>upload_fileobj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Optionally validate by </a:t>
            </a:r>
            <a:r>
              <a:rPr lang="en-US" dirty="0" err="1">
                <a:latin typeface="Courier New" panose="02070309020205020404" pitchFamily="49" charset="0"/>
              </a:rPr>
              <a:t>head_object</a:t>
            </a:r>
            <a:r>
              <a:rPr lang="en-US" dirty="0"/>
              <a:t> or returning </a:t>
            </a:r>
            <a:r>
              <a:rPr lang="en-US" dirty="0">
                <a:latin typeface="Courier New" panose="02070309020205020404" pitchFamily="49" charset="0"/>
              </a:rPr>
              <a:t>ETag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Log and raise on failures for retry logic.</a:t>
            </a:r>
          </a:p>
        </p:txBody>
      </p:sp>
    </p:spTree>
    <p:extLst>
      <p:ext uri="{BB962C8B-B14F-4D97-AF65-F5344CB8AC3E}">
        <p14:creationId xmlns:p14="http://schemas.microsoft.com/office/powerpoint/2010/main" val="583569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0B1788-A307-3E3C-5D01-59B1798075E0}"/>
              </a:ext>
            </a:extLst>
          </p:cNvPr>
          <p:cNvSpPr txBox="1"/>
          <p:nvPr/>
        </p:nvSpPr>
        <p:spPr>
          <a:xfrm>
            <a:off x="179614" y="310243"/>
            <a:ext cx="89807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20 — Environments &amp; Configurations — Local vs dev vs prod — what changes?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Environments differ by endpoints, credentials, capacity, and data sensitivity.</a:t>
            </a:r>
          </a:p>
          <a:p>
            <a:pPr>
              <a:buNone/>
            </a:pPr>
            <a:r>
              <a:rPr lang="en-IN" b="1" dirty="0"/>
              <a:t>Example (differences)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30A0"/>
                </a:solidFill>
              </a:rPr>
              <a:t>Local: local DB, mock services, debug logs.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30A0"/>
                </a:solidFill>
              </a:rPr>
              <a:t>Dev: test DB, test S3 bucket.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30A0"/>
                </a:solidFill>
              </a:rPr>
              <a:t>Prod: real DB, strict IAM, monitoring &amp; alerts.</a:t>
            </a: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Config file or ENV variable toggles </a:t>
            </a:r>
            <a:r>
              <a:rPr lang="en-IN" dirty="0" err="1"/>
              <a:t>behavior</a:t>
            </a:r>
            <a:r>
              <a:rPr lang="en-IN" dirty="0"/>
              <a:t> (e.g., </a:t>
            </a:r>
            <a:r>
              <a:rPr lang="en-IN" dirty="0">
                <a:latin typeface="Courier New" panose="02070309020205020404" pitchFamily="49" charset="0"/>
              </a:rPr>
              <a:t>debug=True</a:t>
            </a:r>
            <a:r>
              <a:rPr lang="en-IN" dirty="0"/>
              <a:t> in dev).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secrets manager in prod; use local .env in local.</a:t>
            </a:r>
          </a:p>
          <a:p>
            <a:pPr>
              <a:buFont typeface="+mj-lt"/>
              <a:buAutoNum type="arabicPeriod"/>
            </a:pPr>
            <a:r>
              <a:rPr lang="en-IN" dirty="0"/>
              <a:t>Avoid running prod config locally.</a:t>
            </a:r>
          </a:p>
        </p:txBody>
      </p:sp>
    </p:spTree>
    <p:extLst>
      <p:ext uri="{BB962C8B-B14F-4D97-AF65-F5344CB8AC3E}">
        <p14:creationId xmlns:p14="http://schemas.microsoft.com/office/powerpoint/2010/main" val="386430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7C810-B36F-5821-ED9E-A8473D2D8A0D}"/>
              </a:ext>
            </a:extLst>
          </p:cNvPr>
          <p:cNvSpPr txBox="1"/>
          <p:nvPr/>
        </p:nvSpPr>
        <p:spPr>
          <a:xfrm>
            <a:off x="146957" y="163286"/>
            <a:ext cx="90133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21 — How config files (dev/local YAMLs) point code to different sources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Config maps keys to resource endpoints and credentials; code reads it at startup.</a:t>
            </a:r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dev: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db_host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: dev-db.example.com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local: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db_host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: localhost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At startup read </a:t>
            </a:r>
            <a:r>
              <a:rPr lang="en-IN" dirty="0">
                <a:latin typeface="Courier New" panose="02070309020205020404" pitchFamily="49" charset="0"/>
              </a:rPr>
              <a:t>ENV</a:t>
            </a:r>
            <a:r>
              <a:rPr lang="en-IN" dirty="0"/>
              <a:t> and load matching section.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Inject config into services (extractor/loader).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safe defaults and environment overrides.</a:t>
            </a:r>
          </a:p>
        </p:txBody>
      </p:sp>
    </p:spTree>
    <p:extLst>
      <p:ext uri="{BB962C8B-B14F-4D97-AF65-F5344CB8AC3E}">
        <p14:creationId xmlns:p14="http://schemas.microsoft.com/office/powerpoint/2010/main" val="4183497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766EB-07E9-BFA8-5A8F-EE3887C3D741}"/>
              </a:ext>
            </a:extLst>
          </p:cNvPr>
          <p:cNvSpPr txBox="1"/>
          <p:nvPr/>
        </p:nvSpPr>
        <p:spPr>
          <a:xfrm>
            <a:off x="261257" y="326571"/>
            <a:ext cx="88990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22 — Environment variables and secrets (API keys, DB creds)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Environment variables store runtime secrets; secret manager stores them securely for prod.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db_pass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os.getenv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("DB_PASS")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In local, set </a:t>
            </a:r>
            <a:r>
              <a:rPr lang="en-IN" dirty="0">
                <a:latin typeface="Courier New" panose="02070309020205020404" pitchFamily="49" charset="0"/>
              </a:rPr>
              <a:t>.env</a:t>
            </a:r>
            <a:r>
              <a:rPr lang="en-IN" dirty="0"/>
              <a:t> or export.</a:t>
            </a:r>
          </a:p>
          <a:p>
            <a:pPr>
              <a:buFont typeface="+mj-lt"/>
              <a:buAutoNum type="arabicPeriod"/>
            </a:pPr>
            <a:r>
              <a:rPr lang="en-IN" dirty="0"/>
              <a:t>In prod, use AWS Secrets Manager or parameter store and IAM role to fetch.</a:t>
            </a:r>
          </a:p>
          <a:p>
            <a:pPr>
              <a:buFont typeface="+mj-lt"/>
              <a:buAutoNum type="arabicPeriod"/>
            </a:pPr>
            <a:r>
              <a:rPr lang="en-IN" dirty="0"/>
              <a:t>Never commit secrets to VCS.</a:t>
            </a:r>
          </a:p>
        </p:txBody>
      </p:sp>
    </p:spTree>
    <p:extLst>
      <p:ext uri="{BB962C8B-B14F-4D97-AF65-F5344CB8AC3E}">
        <p14:creationId xmlns:p14="http://schemas.microsoft.com/office/powerpoint/2010/main" val="2218427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DC3F2-D3C2-4776-F705-2EF7BA67CBE4}"/>
              </a:ext>
            </a:extLst>
          </p:cNvPr>
          <p:cNvSpPr txBox="1"/>
          <p:nvPr/>
        </p:nvSpPr>
        <p:spPr>
          <a:xfrm>
            <a:off x="0" y="289679"/>
            <a:ext cx="89643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23 — Example: simple dev vs local run hands-on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Show how to run code with environment switching.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# Local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ENV=local python etl.py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# Dev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ENV=dev python etl.py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etl.py</a:t>
            </a:r>
            <a:r>
              <a:rPr lang="en-IN" dirty="0"/>
              <a:t> reads </a:t>
            </a:r>
            <a:r>
              <a:rPr lang="en-IN" dirty="0">
                <a:latin typeface="Courier New" panose="02070309020205020404" pitchFamily="49" charset="0"/>
              </a:rPr>
              <a:t>ENV</a:t>
            </a:r>
            <a:r>
              <a:rPr lang="en-IN" dirty="0"/>
              <a:t> and picks configs accordingly.</a:t>
            </a:r>
          </a:p>
          <a:p>
            <a:pPr>
              <a:buFont typeface="+mj-lt"/>
              <a:buAutoNum type="arabicPeriod"/>
            </a:pPr>
            <a:r>
              <a:rPr lang="en-IN" dirty="0"/>
              <a:t>Simple run-time switch without code changes.</a:t>
            </a:r>
          </a:p>
        </p:txBody>
      </p:sp>
    </p:spTree>
    <p:extLst>
      <p:ext uri="{BB962C8B-B14F-4D97-AF65-F5344CB8AC3E}">
        <p14:creationId xmlns:p14="http://schemas.microsoft.com/office/powerpoint/2010/main" val="3471714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C4A90E-81E7-88FA-1E07-44001D02B0C0}"/>
              </a:ext>
            </a:extLst>
          </p:cNvPr>
          <p:cNvSpPr txBox="1"/>
          <p:nvPr/>
        </p:nvSpPr>
        <p:spPr>
          <a:xfrm>
            <a:off x="130629" y="228600"/>
            <a:ext cx="90296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24 — Debugging &amp; Testing — Printing/logging data at each step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Log key metrics (rows processed, errors) at each stage so you can trace behavior without stepping through code.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  <a:endParaRPr lang="en-US" dirty="0"/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logger.info("Batch start: id=%s,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record_count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=%d",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batch_id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len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))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Log at INFO for progress, DEBUG for deep trace, ERROR for failures.</a:t>
            </a:r>
          </a:p>
          <a:p>
            <a:pPr>
              <a:buFont typeface="+mj-lt"/>
              <a:buAutoNum type="arabicPeriod"/>
            </a:pPr>
            <a:r>
              <a:rPr lang="en-US" dirty="0"/>
              <a:t>Include identifiers (file, batch id) for traceability.</a:t>
            </a:r>
          </a:p>
        </p:txBody>
      </p:sp>
    </p:spTree>
    <p:extLst>
      <p:ext uri="{BB962C8B-B14F-4D97-AF65-F5344CB8AC3E}">
        <p14:creationId xmlns:p14="http://schemas.microsoft.com/office/powerpoint/2010/main" val="2749506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50AB25-0B8D-152F-DC7C-1506C7F63109}"/>
              </a:ext>
            </a:extLst>
          </p:cNvPr>
          <p:cNvSpPr txBox="1"/>
          <p:nvPr/>
        </p:nvSpPr>
        <p:spPr>
          <a:xfrm>
            <a:off x="146957" y="228600"/>
            <a:ext cx="90133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25 — Unit testing basics with </a:t>
            </a:r>
            <a:r>
              <a:rPr lang="en-IN" b="1" dirty="0" err="1"/>
              <a:t>pytest</a:t>
            </a:r>
            <a:r>
              <a:rPr lang="en-IN" b="1" dirty="0"/>
              <a:t> (mocking API responses)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 err="1">
                <a:latin typeface="Courier New" panose="02070309020205020404" pitchFamily="49" charset="0"/>
              </a:rPr>
              <a:t>pytest</a:t>
            </a:r>
            <a:r>
              <a:rPr lang="en-IN" dirty="0"/>
              <a:t> runs unit tests; mocking replaces external calls with fixtures to run tests offline.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(test):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def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test_transform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():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raw = [{"id":1,"name":"Ravi","role":"manager"}]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transform(raw)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assert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df.loc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[0,"role"] == "MANAGER“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Tests call pure functions/classes with sample inputs.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>
                <a:latin typeface="Courier New" panose="02070309020205020404" pitchFamily="49" charset="0"/>
              </a:rPr>
              <a:t>requests-mock</a:t>
            </a:r>
            <a:r>
              <a:rPr lang="en-IN" dirty="0"/>
              <a:t> or </a:t>
            </a:r>
            <a:r>
              <a:rPr lang="en-IN" dirty="0" err="1">
                <a:latin typeface="Courier New" panose="02070309020205020404" pitchFamily="49" charset="0"/>
              </a:rPr>
              <a:t>unittest.mock.patch</a:t>
            </a:r>
            <a:r>
              <a:rPr lang="en-IN" dirty="0"/>
              <a:t> to replace external HTTP calls.</a:t>
            </a:r>
          </a:p>
        </p:txBody>
      </p:sp>
    </p:spTree>
    <p:extLst>
      <p:ext uri="{BB962C8B-B14F-4D97-AF65-F5344CB8AC3E}">
        <p14:creationId xmlns:p14="http://schemas.microsoft.com/office/powerpoint/2010/main" val="189575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74FE4-DB71-1128-847F-B990C25AF495}"/>
              </a:ext>
            </a:extLst>
          </p:cNvPr>
          <p:cNvSpPr txBox="1"/>
          <p:nvPr/>
        </p:nvSpPr>
        <p:spPr>
          <a:xfrm>
            <a:off x="163286" y="326571"/>
            <a:ext cx="89970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26 — How to "trace a record" through a pipeline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Add a unique </a:t>
            </a:r>
            <a:r>
              <a:rPr lang="en-US" dirty="0" err="1">
                <a:latin typeface="Courier New" panose="02070309020205020404" pitchFamily="49" charset="0"/>
              </a:rPr>
              <a:t>trace_id</a:t>
            </a:r>
            <a:r>
              <a:rPr lang="en-US" dirty="0"/>
              <a:t> to records and log it at each stage to follow single-record journey.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  <a:endParaRPr lang="en-US" dirty="0"/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record["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trace_id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"] = f"{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batch_id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}-{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idx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}"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logger.info("Transform start", extra={"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trace_id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": record["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trace_id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"]})</a:t>
            </a:r>
          </a:p>
          <a:p>
            <a:pPr rtl="0">
              <a:buNone/>
            </a:pPr>
            <a:endParaRPr lang="en-US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Attach trace metadata early.</a:t>
            </a:r>
          </a:p>
          <a:p>
            <a:pPr>
              <a:buFont typeface="+mj-lt"/>
              <a:buAutoNum type="arabicPeriod"/>
            </a:pPr>
            <a:r>
              <a:rPr lang="en-US" dirty="0"/>
              <a:t>Include it in logs &amp; error messages.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as join key when troubleshooting across systems.</a:t>
            </a:r>
          </a:p>
        </p:txBody>
      </p:sp>
    </p:spTree>
    <p:extLst>
      <p:ext uri="{BB962C8B-B14F-4D97-AF65-F5344CB8AC3E}">
        <p14:creationId xmlns:p14="http://schemas.microsoft.com/office/powerpoint/2010/main" val="3042167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FB143-20CE-088B-BACB-3F5BB4BC93FD}"/>
              </a:ext>
            </a:extLst>
          </p:cNvPr>
          <p:cNvSpPr txBox="1"/>
          <p:nvPr/>
        </p:nvSpPr>
        <p:spPr>
          <a:xfrm>
            <a:off x="212271" y="244930"/>
            <a:ext cx="894805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27 — Example: test transformers with sample JSON and CSV output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Write an integration-style test that runs transform and writes to temp CSV, then asserts content.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tempfile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def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test_etl_end_to_end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():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tmp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tempfile.NamedTemporaryFile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(suffix=".csv", delete=False)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transformer.transform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sample_json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df.to_csv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(tmp.name, index=False)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assert "Ravi" in open(tmp.name).read()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 err="1">
                <a:latin typeface="Courier New" panose="02070309020205020404" pitchFamily="49" charset="0"/>
              </a:rPr>
              <a:t>tempfile</a:t>
            </a:r>
            <a:r>
              <a:rPr lang="en-IN" dirty="0"/>
              <a:t> to avoid polluting repo.</a:t>
            </a:r>
          </a:p>
          <a:p>
            <a:pPr>
              <a:buFont typeface="+mj-lt"/>
              <a:buAutoNum type="arabicPeriod"/>
            </a:pPr>
            <a:r>
              <a:rPr lang="en-IN" dirty="0"/>
              <a:t>Transform sample JSON, write, and assert output contains expected values.</a:t>
            </a:r>
          </a:p>
        </p:txBody>
      </p:sp>
    </p:spTree>
    <p:extLst>
      <p:ext uri="{BB962C8B-B14F-4D97-AF65-F5344CB8AC3E}">
        <p14:creationId xmlns:p14="http://schemas.microsoft.com/office/powerpoint/2010/main" val="1183359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10E24A-982F-FB2D-08EE-C988459D490B}"/>
              </a:ext>
            </a:extLst>
          </p:cNvPr>
          <p:cNvSpPr txBox="1"/>
          <p:nvPr/>
        </p:nvSpPr>
        <p:spPr>
          <a:xfrm>
            <a:off x="244929" y="195943"/>
            <a:ext cx="102380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28 — Data Pipeline Lifecycle — Ingestion → Transformation → Storage → Orchestration → Monitoring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Full lifecycle describes how raw data becomes consumed insights and how pipeline is managed and observed.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(flow)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API/S3 → Transformer →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DataLake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(S3) → Analytics DB → Dashboard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Ingestion collects raw payloads.</a:t>
            </a:r>
          </a:p>
          <a:p>
            <a:pPr>
              <a:buFont typeface="+mj-lt"/>
              <a:buAutoNum type="arabicPeriod"/>
            </a:pPr>
            <a:r>
              <a:rPr lang="en-IN" dirty="0"/>
              <a:t>Transformation normalizes and validates.</a:t>
            </a:r>
          </a:p>
          <a:p>
            <a:pPr>
              <a:buFont typeface="+mj-lt"/>
              <a:buAutoNum type="arabicPeriod"/>
            </a:pPr>
            <a:r>
              <a:rPr lang="en-IN" dirty="0"/>
              <a:t>Storage persists optimized artifacts.</a:t>
            </a:r>
          </a:p>
          <a:p>
            <a:pPr>
              <a:buFont typeface="+mj-lt"/>
              <a:buAutoNum type="arabicPeriod"/>
            </a:pPr>
            <a:r>
              <a:rPr lang="en-IN" dirty="0"/>
              <a:t>Orchestration (Step Functions or Airflow) schedules jobs.</a:t>
            </a:r>
          </a:p>
          <a:p>
            <a:pPr>
              <a:buFont typeface="+mj-lt"/>
              <a:buAutoNum type="arabicPeriod"/>
            </a:pPr>
            <a:r>
              <a:rPr lang="en-IN" dirty="0"/>
              <a:t>Monitoring (CloudWatch) collects logs/metrics and alarms.</a:t>
            </a:r>
          </a:p>
        </p:txBody>
      </p:sp>
    </p:spTree>
    <p:extLst>
      <p:ext uri="{BB962C8B-B14F-4D97-AF65-F5344CB8AC3E}">
        <p14:creationId xmlns:p14="http://schemas.microsoft.com/office/powerpoint/2010/main" val="1722449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955DEE-AD6D-E5B8-2C53-7359D88ACD74}"/>
              </a:ext>
            </a:extLst>
          </p:cNvPr>
          <p:cNvSpPr txBox="1"/>
          <p:nvPr/>
        </p:nvSpPr>
        <p:spPr>
          <a:xfrm>
            <a:off x="130629" y="277587"/>
            <a:ext cx="90296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29 — ETL Testing Concepts — Unit, Integration, Validation, Regression, Mocking S3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Testing across levels ensures correctness and guards against regressions.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Unit: function-level asserts.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Integration: run transformer + </a:t>
            </a:r>
            <a:r>
              <a:rPr lang="en-US" b="1" dirty="0" err="1">
                <a:solidFill>
                  <a:srgbClr val="7030A0"/>
                </a:solidFill>
              </a:rPr>
              <a:t>persister</a:t>
            </a:r>
            <a:r>
              <a:rPr lang="en-US" b="1" dirty="0">
                <a:solidFill>
                  <a:srgbClr val="7030A0"/>
                </a:solidFill>
              </a:rPr>
              <a:t> with mock S3.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Validation: schema checks (types, required columns).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moto</a:t>
            </a:r>
            <a:r>
              <a:rPr lang="en-US" dirty="0"/>
              <a:t> to mock S3 in tests (no real AWS).</a:t>
            </a:r>
          </a:p>
          <a:p>
            <a:pPr>
              <a:buFont typeface="+mj-lt"/>
              <a:buAutoNum type="arabicPeriod"/>
            </a:pPr>
            <a:r>
              <a:rPr lang="en-US" dirty="0"/>
              <a:t>Validate row counts and key fields post-run.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regression asserts comparing known-good outputs.</a:t>
            </a:r>
          </a:p>
        </p:txBody>
      </p:sp>
    </p:spTree>
    <p:extLst>
      <p:ext uri="{BB962C8B-B14F-4D97-AF65-F5344CB8AC3E}">
        <p14:creationId xmlns:p14="http://schemas.microsoft.com/office/powerpoint/2010/main" val="36475399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406AD0-8032-EC42-EC88-BFA95CEC7DB3}"/>
              </a:ext>
            </a:extLst>
          </p:cNvPr>
          <p:cNvSpPr txBox="1"/>
          <p:nvPr/>
        </p:nvSpPr>
        <p:spPr>
          <a:xfrm>
            <a:off x="277586" y="506187"/>
            <a:ext cx="88827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30 — How to structure transform() vs persist() (config-driven)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>
                <a:latin typeface="Courier New" panose="02070309020205020404" pitchFamily="49" charset="0"/>
              </a:rPr>
              <a:t>transform()</a:t>
            </a:r>
            <a:r>
              <a:rPr lang="en-IN" dirty="0"/>
              <a:t> outputs data; </a:t>
            </a:r>
            <a:r>
              <a:rPr lang="en-IN" dirty="0">
                <a:latin typeface="Courier New" panose="02070309020205020404" pitchFamily="49" charset="0"/>
              </a:rPr>
              <a:t>persist()</a:t>
            </a:r>
            <a:r>
              <a:rPr lang="en-IN" dirty="0"/>
              <a:t> writes it. Use config to decide whether persist writes locally or to S3.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if config["env"] == "local":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persister.to_csv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config["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local_path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"])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persister.to_s3(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config["s3_bucket"], key)</a:t>
            </a: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Keep code paths explicit and config-based.</a:t>
            </a:r>
          </a:p>
          <a:p>
            <a:pPr>
              <a:buFont typeface="+mj-lt"/>
              <a:buAutoNum type="arabicPeriod"/>
            </a:pPr>
            <a:r>
              <a:rPr lang="en-IN" dirty="0"/>
              <a:t>Avoid conditionals scattered in transform logic—centralize in orchestration code.</a:t>
            </a:r>
          </a:p>
        </p:txBody>
      </p:sp>
    </p:spTree>
    <p:extLst>
      <p:ext uri="{BB962C8B-B14F-4D97-AF65-F5344CB8AC3E}">
        <p14:creationId xmlns:p14="http://schemas.microsoft.com/office/powerpoint/2010/main" val="1823931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5677B4-A2F9-7F8E-51EA-94FF71285C5E}"/>
              </a:ext>
            </a:extLst>
          </p:cNvPr>
          <p:cNvSpPr txBox="1"/>
          <p:nvPr/>
        </p:nvSpPr>
        <p:spPr>
          <a:xfrm>
            <a:off x="163286" y="277587"/>
            <a:ext cx="89970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31 — AWS Deployment Concepts — S3 (raw/trusted/refined)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Common zone pattern: raw = ingested, trusted = cleaned, refined = aggregated for analytics.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s3://mybucket/raw/2025-11-03/file.json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s3://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mybucket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/trusted/...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s3://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mybucket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/refined/...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Raw retains original files.</a:t>
            </a:r>
          </a:p>
          <a:p>
            <a:pPr>
              <a:buFont typeface="+mj-lt"/>
              <a:buAutoNum type="arabicPeriod"/>
            </a:pPr>
            <a:r>
              <a:rPr lang="en-IN" dirty="0"/>
              <a:t>Trusted contains validated cleansed data.</a:t>
            </a:r>
          </a:p>
          <a:p>
            <a:pPr>
              <a:buFont typeface="+mj-lt"/>
              <a:buAutoNum type="arabicPeriod"/>
            </a:pPr>
            <a:r>
              <a:rPr lang="en-IN" dirty="0"/>
              <a:t>Refined has business-ready tables.</a:t>
            </a:r>
          </a:p>
        </p:txBody>
      </p:sp>
    </p:spTree>
    <p:extLst>
      <p:ext uri="{BB962C8B-B14F-4D97-AF65-F5344CB8AC3E}">
        <p14:creationId xmlns:p14="http://schemas.microsoft.com/office/powerpoint/2010/main" val="310658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87681-4442-EB63-0398-1FE8E27843A5}"/>
              </a:ext>
            </a:extLst>
          </p:cNvPr>
          <p:cNvSpPr txBox="1"/>
          <p:nvPr/>
        </p:nvSpPr>
        <p:spPr>
          <a:xfrm>
            <a:off x="130629" y="310243"/>
            <a:ext cx="90296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32 — IAM Roles &amp; permissions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IAM grants least-privilege access. Use roles for compute (Lambda/EC2) instead of embedding keys.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30A0"/>
                </a:solidFill>
              </a:rPr>
              <a:t>Role grants 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s3:PutObject</a:t>
            </a:r>
            <a:r>
              <a:rPr lang="en-IN" b="1" dirty="0">
                <a:solidFill>
                  <a:srgbClr val="7030A0"/>
                </a:solidFill>
              </a:rPr>
              <a:t> on 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arn:aws:s3:::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-prod/*</a:t>
            </a:r>
            <a:r>
              <a:rPr lang="en-IN" b="1" dirty="0">
                <a:solidFill>
                  <a:srgbClr val="7030A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Attach minimal policies.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roles for services; use temporary creds in CI.</a:t>
            </a:r>
          </a:p>
        </p:txBody>
      </p:sp>
    </p:spTree>
    <p:extLst>
      <p:ext uri="{BB962C8B-B14F-4D97-AF65-F5344CB8AC3E}">
        <p14:creationId xmlns:p14="http://schemas.microsoft.com/office/powerpoint/2010/main" val="3327273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3E3776-9A24-0111-D403-4EAEC009C294}"/>
              </a:ext>
            </a:extLst>
          </p:cNvPr>
          <p:cNvSpPr txBox="1"/>
          <p:nvPr/>
        </p:nvSpPr>
        <p:spPr>
          <a:xfrm>
            <a:off x="0" y="408214"/>
            <a:ext cx="91603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33 — Basics of Lambda, SQS, Glue, Athena, CloudWatch (short per service)</a:t>
            </a:r>
          </a:p>
          <a:p>
            <a:pPr>
              <a:buNone/>
            </a:pPr>
            <a:r>
              <a:rPr lang="en-IN" b="1" dirty="0"/>
              <a:t>Definition &amp; Example (one-line each)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Lambda: run small ETL tasks on trigger (S3:ObjectCreated).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SQS: queue messages for async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Glue: managed ETL (Spark) + data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Athena: query S3 with SQL (Parquet preferred).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CloudWatch: collect logs &amp; metrics and set alarms.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Step-by-step explanation</a:t>
            </a:r>
          </a:p>
          <a:p>
            <a:pPr>
              <a:buNone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Choose Lambda for event-based small jobs, Glue for heavy transformations.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SQS for decoupling and retry.</a:t>
            </a:r>
          </a:p>
          <a:p>
            <a:pPr>
              <a:buFont typeface="+mj-lt"/>
              <a:buAutoNum type="arabicPeriod"/>
            </a:pPr>
            <a:r>
              <a:rPr lang="en-IN" dirty="0"/>
              <a:t>CloudWatch monitors job success/failure.</a:t>
            </a:r>
          </a:p>
        </p:txBody>
      </p:sp>
    </p:spTree>
    <p:extLst>
      <p:ext uri="{BB962C8B-B14F-4D97-AF65-F5344CB8AC3E}">
        <p14:creationId xmlns:p14="http://schemas.microsoft.com/office/powerpoint/2010/main" val="1691654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2AB43A-2F3E-DE79-8C41-FFEBB812E509}"/>
              </a:ext>
            </a:extLst>
          </p:cNvPr>
          <p:cNvSpPr txBox="1"/>
          <p:nvPr/>
        </p:nvSpPr>
        <p:spPr>
          <a:xfrm>
            <a:off x="244928" y="440871"/>
            <a:ext cx="929095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34 — Data Pipeline Concepts — sources, staging, DPL publisher SDK, </a:t>
            </a:r>
            <a:r>
              <a:rPr lang="en-IN" b="1" dirty="0" err="1"/>
              <a:t>CockroachDB</a:t>
            </a:r>
            <a:r>
              <a:rPr lang="en-IN" b="1" dirty="0"/>
              <a:t>, Data Lens, downstream consumers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Pipeline integrates many systems: source APIs, staging apps (</a:t>
            </a:r>
            <a:r>
              <a:rPr lang="en-IN" dirty="0" err="1"/>
              <a:t>CherryPy</a:t>
            </a:r>
            <a:r>
              <a:rPr lang="en-IN" dirty="0"/>
              <a:t>), ingestion SDKs, analytical DBs, and BI consumers.</a:t>
            </a:r>
          </a:p>
          <a:p>
            <a:pPr>
              <a:buNone/>
            </a:pPr>
            <a:r>
              <a:rPr lang="en-IN" b="1" dirty="0"/>
              <a:t>Example (flow)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Source API →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CherryPy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CSV+token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 → DPL SDK → S3 →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CockroachDB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load → Qlik dashboard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Staging app handles auth/token exchange and initial format.</a:t>
            </a:r>
          </a:p>
          <a:p>
            <a:pPr>
              <a:buFont typeface="+mj-lt"/>
              <a:buAutoNum type="arabicPeriod"/>
            </a:pPr>
            <a:r>
              <a:rPr lang="en-IN" dirty="0"/>
              <a:t>Publisher SDK uploads to data lake.</a:t>
            </a:r>
          </a:p>
          <a:p>
            <a:pPr>
              <a:buFont typeface="+mj-lt"/>
              <a:buAutoNum type="arabicPeriod"/>
            </a:pPr>
            <a:r>
              <a:rPr lang="en-IN" dirty="0"/>
              <a:t>ETL jobs move from S3 to analytical DB and publish metadata (Data Lens) for downstream use.</a:t>
            </a:r>
          </a:p>
        </p:txBody>
      </p:sp>
    </p:spTree>
    <p:extLst>
      <p:ext uri="{BB962C8B-B14F-4D97-AF65-F5344CB8AC3E}">
        <p14:creationId xmlns:p14="http://schemas.microsoft.com/office/powerpoint/2010/main" val="1600571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D73B6-6F66-44D4-B6C2-55EFF426F2D4}"/>
              </a:ext>
            </a:extLst>
          </p:cNvPr>
          <p:cNvSpPr txBox="1"/>
          <p:nvPr/>
        </p:nvSpPr>
        <p:spPr>
          <a:xfrm>
            <a:off x="195943" y="310243"/>
            <a:ext cx="89643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35 — Schema evolution (handling column additions/renames)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Handle new or renamed columns gracefully by mapping or default values and updating schemas.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expected_cols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{"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id","name","role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"}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df.reindex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(columns=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expected_cols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fill_value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=None)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Reindex adds missing columns with defaults.</a:t>
            </a:r>
          </a:p>
          <a:p>
            <a:pPr>
              <a:buFont typeface="+mj-lt"/>
              <a:buAutoNum type="arabicPeriod"/>
            </a:pPr>
            <a:r>
              <a:rPr lang="en-IN" dirty="0"/>
              <a:t>Maintain mapping tables for renamed columns.</a:t>
            </a:r>
          </a:p>
          <a:p>
            <a:pPr>
              <a:buFont typeface="+mj-lt"/>
              <a:buAutoNum type="arabicPeriod"/>
            </a:pPr>
            <a:r>
              <a:rPr lang="en-IN" dirty="0"/>
              <a:t>Version your schemas and validate before load.</a:t>
            </a:r>
          </a:p>
        </p:txBody>
      </p:sp>
    </p:spTree>
    <p:extLst>
      <p:ext uri="{BB962C8B-B14F-4D97-AF65-F5344CB8AC3E}">
        <p14:creationId xmlns:p14="http://schemas.microsoft.com/office/powerpoint/2010/main" val="397011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737579-987A-C6D8-1ED2-BD4C015C55AD}"/>
              </a:ext>
            </a:extLst>
          </p:cNvPr>
          <p:cNvSpPr txBox="1"/>
          <p:nvPr/>
        </p:nvSpPr>
        <p:spPr>
          <a:xfrm>
            <a:off x="0" y="506186"/>
            <a:ext cx="91603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36 — Env/config deep-dive: how Python reads configs (live example)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Python reads YAML/JSON and environment overrides for flexible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yaml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env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os.getenv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ENV","local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cfg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yaml.safe_load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(open("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config.yml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"))[env]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ENV</a:t>
            </a:r>
            <a:r>
              <a:rPr lang="en-IN" dirty="0"/>
              <a:t> selects section.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You can also override keys via environment variables for CI.</a:t>
            </a:r>
          </a:p>
          <a:p>
            <a:pPr>
              <a:buFont typeface="+mj-lt"/>
              <a:buAutoNum type="arabicPeriod"/>
            </a:pPr>
            <a:r>
              <a:rPr lang="en-IN" dirty="0"/>
              <a:t>Keep secrets out of files; use secret manager.</a:t>
            </a:r>
          </a:p>
        </p:txBody>
      </p:sp>
    </p:spTree>
    <p:extLst>
      <p:ext uri="{BB962C8B-B14F-4D97-AF65-F5344CB8AC3E}">
        <p14:creationId xmlns:p14="http://schemas.microsoft.com/office/powerpoint/2010/main" val="884425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EE280-AC8B-8197-B8B7-AC4A0FA4CBE9}"/>
              </a:ext>
            </a:extLst>
          </p:cNvPr>
          <p:cNvSpPr txBox="1"/>
          <p:nvPr/>
        </p:nvSpPr>
        <p:spPr>
          <a:xfrm>
            <a:off x="67112" y="151003"/>
            <a:ext cx="90932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37 — Why change config between dev/</a:t>
            </a:r>
            <a:r>
              <a:rPr lang="en-IN" b="1" dirty="0" err="1"/>
              <a:t>qa</a:t>
            </a:r>
            <a:r>
              <a:rPr lang="en-IN" b="1" dirty="0"/>
              <a:t>/prod — example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Different environments require different endpoints, credentials, and scale.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30A0"/>
                </a:solidFill>
              </a:rPr>
              <a:t>Dev uses test DB and debug logs; Prod uses analytic DB and strict logging.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Prevent accidental writes to prod by using separate buckets.</a:t>
            </a:r>
          </a:p>
          <a:p>
            <a:pPr>
              <a:buFont typeface="+mj-lt"/>
              <a:buAutoNum type="arabicPeriod"/>
            </a:pPr>
            <a:r>
              <a:rPr lang="en-IN" dirty="0"/>
              <a:t>Lower retention &amp; sample logging in dev; full retention in prod.</a:t>
            </a:r>
          </a:p>
        </p:txBody>
      </p:sp>
    </p:spTree>
    <p:extLst>
      <p:ext uri="{BB962C8B-B14F-4D97-AF65-F5344CB8AC3E}">
        <p14:creationId xmlns:p14="http://schemas.microsoft.com/office/powerpoint/2010/main" val="1382635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0DFC1A-CD68-26AB-794D-0FD39E292E10}"/>
              </a:ext>
            </a:extLst>
          </p:cNvPr>
          <p:cNvSpPr txBox="1"/>
          <p:nvPr/>
        </p:nvSpPr>
        <p:spPr>
          <a:xfrm>
            <a:off x="163286" y="424544"/>
            <a:ext cx="89970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38 — Local system env settings, IntelliJ run configs, proxies, passwords for local testing — short guide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Local dev environment often needs proxies or test credentials; run configs in IDE pass ENV and </a:t>
            </a:r>
            <a:r>
              <a:rPr lang="en-IN" dirty="0" err="1"/>
              <a:t>args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7030A0"/>
                </a:solidFill>
              </a:rPr>
              <a:t>IntelliJ Run configuration: 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Program arguments: --env=dev</a:t>
            </a:r>
            <a:r>
              <a:rPr lang="en-IN" b="1" dirty="0">
                <a:solidFill>
                  <a:srgbClr val="7030A0"/>
                </a:solidFill>
              </a:rPr>
              <a:t> and env var 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ENV=dev</a:t>
            </a:r>
            <a:r>
              <a:rPr lang="en-IN" b="1" dirty="0">
                <a:solidFill>
                  <a:srgbClr val="7030A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Keep local-only configs out of VCS (</a:t>
            </a:r>
            <a:r>
              <a:rPr lang="en-IN" dirty="0">
                <a:latin typeface="Courier New" panose="02070309020205020404" pitchFamily="49" charset="0"/>
              </a:rPr>
              <a:t>.</a:t>
            </a:r>
            <a:r>
              <a:rPr lang="en-IN" dirty="0" err="1">
                <a:latin typeface="Courier New" panose="02070309020205020404" pitchFamily="49" charset="0"/>
              </a:rPr>
              <a:t>gitignore</a:t>
            </a:r>
            <a:r>
              <a:rPr lang="en-IN" dirty="0"/>
              <a:t>).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 err="1">
                <a:latin typeface="Courier New" panose="02070309020205020404" pitchFamily="49" charset="0"/>
              </a:rPr>
              <a:t>secrets.example</a:t>
            </a:r>
            <a:r>
              <a:rPr lang="en-IN" dirty="0"/>
              <a:t> to document required keys.</a:t>
            </a:r>
          </a:p>
        </p:txBody>
      </p:sp>
    </p:spTree>
    <p:extLst>
      <p:ext uri="{BB962C8B-B14F-4D97-AF65-F5344CB8AC3E}">
        <p14:creationId xmlns:p14="http://schemas.microsoft.com/office/powerpoint/2010/main" val="39952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C8C2D-056A-3405-5037-41D1C9970481}"/>
              </a:ext>
            </a:extLst>
          </p:cNvPr>
          <p:cNvSpPr txBox="1"/>
          <p:nvPr/>
        </p:nvSpPr>
        <p:spPr>
          <a:xfrm>
            <a:off x="244929" y="506186"/>
            <a:ext cx="89153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39 — Environment variables in Python — example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Use </a:t>
            </a:r>
            <a:r>
              <a:rPr lang="en-IN" dirty="0" err="1">
                <a:latin typeface="Courier New" panose="02070309020205020404" pitchFamily="49" charset="0"/>
              </a:rPr>
              <a:t>os.getenv</a:t>
            </a:r>
            <a:r>
              <a:rPr lang="en-IN" dirty="0"/>
              <a:t> to read secrets/config values at runtime.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DB_USER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os.getenv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("DB_USER","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local_user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Provide sensible defaults for local.</a:t>
            </a:r>
          </a:p>
          <a:p>
            <a:pPr>
              <a:buFont typeface="+mj-lt"/>
              <a:buAutoNum type="arabicPeriod"/>
            </a:pPr>
            <a:r>
              <a:rPr lang="en-IN" dirty="0"/>
              <a:t>Fail loudly in prod if required vars missing.</a:t>
            </a:r>
          </a:p>
        </p:txBody>
      </p:sp>
    </p:spTree>
    <p:extLst>
      <p:ext uri="{BB962C8B-B14F-4D97-AF65-F5344CB8AC3E}">
        <p14:creationId xmlns:p14="http://schemas.microsoft.com/office/powerpoint/2010/main" val="1213773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2677A9-2F27-91D4-59C5-205602913CBC}"/>
              </a:ext>
            </a:extLst>
          </p:cNvPr>
          <p:cNvSpPr txBox="1"/>
          <p:nvPr/>
        </p:nvSpPr>
        <p:spPr>
          <a:xfrm>
            <a:off x="179614" y="506187"/>
            <a:ext cx="89807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40 — Poetry, pandas, </a:t>
            </a:r>
            <a:r>
              <a:rPr lang="en-IN" b="1" dirty="0" err="1"/>
              <a:t>virtualenv</a:t>
            </a:r>
            <a:r>
              <a:rPr lang="en-IN" b="1" dirty="0"/>
              <a:t> — why and how</a:t>
            </a:r>
          </a:p>
          <a:p>
            <a:pPr>
              <a:buNone/>
            </a:pPr>
            <a:r>
              <a:rPr lang="en-IN" b="1" dirty="0"/>
              <a:t>Definition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virtualenv</a:t>
            </a:r>
            <a:r>
              <a:rPr lang="en-IN" dirty="0">
                <a:latin typeface="Courier New" panose="02070309020205020404" pitchFamily="49" charset="0"/>
              </a:rPr>
              <a:t>/</a:t>
            </a:r>
            <a:r>
              <a:rPr lang="en-IN" dirty="0" err="1">
                <a:latin typeface="Courier New" panose="02070309020205020404" pitchFamily="49" charset="0"/>
              </a:rPr>
              <a:t>venv</a:t>
            </a:r>
            <a:r>
              <a:rPr lang="en-IN" dirty="0"/>
              <a:t> isolate dependencies per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poetry</a:t>
            </a:r>
            <a:r>
              <a:rPr lang="en-IN" dirty="0"/>
              <a:t> manages dependencies &amp; packaging.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pandas</a:t>
            </a:r>
            <a:r>
              <a:rPr lang="en-IN" dirty="0"/>
              <a:t> used for tabular transformations.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Example (commands)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python -m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venv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.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venv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source .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venv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/bin/activate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pip install pandas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 err="1"/>
              <a:t>venv</a:t>
            </a:r>
            <a:r>
              <a:rPr lang="en-IN" dirty="0"/>
              <a:t> to avoid global package conflicts.</a:t>
            </a:r>
          </a:p>
          <a:p>
            <a:pPr>
              <a:buFont typeface="+mj-lt"/>
              <a:buAutoNum type="arabicPeriod"/>
            </a:pPr>
            <a:r>
              <a:rPr lang="en-IN" dirty="0"/>
              <a:t>Poetry simplifies reproducible installs and </a:t>
            </a:r>
            <a:r>
              <a:rPr lang="en-IN" dirty="0" err="1"/>
              <a:t>lockfiles</a:t>
            </a:r>
            <a:r>
              <a:rPr lang="en-IN" dirty="0"/>
              <a:t> for CI.</a:t>
            </a:r>
          </a:p>
        </p:txBody>
      </p:sp>
    </p:spTree>
    <p:extLst>
      <p:ext uri="{BB962C8B-B14F-4D97-AF65-F5344CB8AC3E}">
        <p14:creationId xmlns:p14="http://schemas.microsoft.com/office/powerpoint/2010/main" val="940896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06151-09C7-CD2B-3FCC-EBDC516B4228}"/>
              </a:ext>
            </a:extLst>
          </p:cNvPr>
          <p:cNvSpPr txBox="1"/>
          <p:nvPr/>
        </p:nvSpPr>
        <p:spPr>
          <a:xfrm>
            <a:off x="179614" y="408214"/>
            <a:ext cx="89807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41 — Local vs dev vs prod selection by codebase (example)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One codebase, multiple configs; </a:t>
            </a:r>
            <a:r>
              <a:rPr lang="en-IN" dirty="0">
                <a:latin typeface="Courier New" panose="02070309020205020404" pitchFamily="49" charset="0"/>
              </a:rPr>
              <a:t>ENV</a:t>
            </a:r>
            <a:r>
              <a:rPr lang="en-IN" dirty="0"/>
              <a:t> variable chooses </a:t>
            </a:r>
            <a:r>
              <a:rPr lang="en-IN" dirty="0" err="1"/>
              <a:t>behavior</a:t>
            </a:r>
            <a:r>
              <a:rPr lang="en-IN" dirty="0"/>
              <a:t> at runtime.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ENV=prod python etl.py  # picks prod config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Code reads </a:t>
            </a:r>
            <a:r>
              <a:rPr lang="en-IN" dirty="0">
                <a:latin typeface="Courier New" panose="02070309020205020404" pitchFamily="49" charset="0"/>
              </a:rPr>
              <a:t>ENV</a:t>
            </a:r>
            <a:r>
              <a:rPr lang="en-IN" dirty="0"/>
              <a:t> and config.</a:t>
            </a:r>
          </a:p>
          <a:p>
            <a:pPr>
              <a:buFont typeface="+mj-lt"/>
              <a:buAutoNum type="arabicPeriod"/>
            </a:pPr>
            <a:r>
              <a:rPr lang="en-IN" dirty="0"/>
              <a:t>Keep prod-only code gated (feature flags) and tested.</a:t>
            </a:r>
          </a:p>
        </p:txBody>
      </p:sp>
    </p:spTree>
    <p:extLst>
      <p:ext uri="{BB962C8B-B14F-4D97-AF65-F5344CB8AC3E}">
        <p14:creationId xmlns:p14="http://schemas.microsoft.com/office/powerpoint/2010/main" val="533582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53F53-0ABC-3A2A-D5F7-93A5903B67E3}"/>
              </a:ext>
            </a:extLst>
          </p:cNvPr>
          <p:cNvSpPr txBox="1"/>
          <p:nvPr/>
        </p:nvSpPr>
        <p:spPr>
          <a:xfrm>
            <a:off x="179614" y="538843"/>
            <a:ext cx="8980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42 — How IntelliJ Run Config or CLI </a:t>
            </a:r>
            <a:r>
              <a:rPr lang="en-IN" b="1" dirty="0">
                <a:latin typeface="Courier New" panose="02070309020205020404" pitchFamily="49" charset="0"/>
              </a:rPr>
              <a:t>--env=dev</a:t>
            </a:r>
            <a:r>
              <a:rPr lang="en-IN" b="1" dirty="0"/>
              <a:t> passes env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Arguments or environment variables are parsed at runtime and used to select config.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python etl.py --env dev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# inside python: parse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args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with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argparse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and load config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argparse</a:t>
            </a:r>
            <a:r>
              <a:rPr lang="en-IN" dirty="0"/>
              <a:t> reads CLI </a:t>
            </a:r>
            <a:r>
              <a:rPr lang="en-IN" dirty="0" err="1"/>
              <a:t>args</a:t>
            </a:r>
            <a:r>
              <a:rPr lang="en-IN" dirty="0"/>
              <a:t>; </a:t>
            </a:r>
            <a:r>
              <a:rPr lang="en-IN" dirty="0" err="1">
                <a:latin typeface="Courier New" panose="02070309020205020404" pitchFamily="49" charset="0"/>
              </a:rPr>
              <a:t>os.getenv</a:t>
            </a:r>
            <a:r>
              <a:rPr lang="en-IN" dirty="0"/>
              <a:t> reads env variables.</a:t>
            </a:r>
          </a:p>
          <a:p>
            <a:pPr>
              <a:buFont typeface="+mj-lt"/>
              <a:buAutoNum type="arabicPeriod"/>
            </a:pPr>
            <a:r>
              <a:rPr lang="en-IN" dirty="0"/>
              <a:t>CLI </a:t>
            </a:r>
            <a:r>
              <a:rPr lang="en-IN" dirty="0" err="1"/>
              <a:t>args</a:t>
            </a:r>
            <a:r>
              <a:rPr lang="en-IN" dirty="0"/>
              <a:t> usually override env vars.</a:t>
            </a:r>
          </a:p>
        </p:txBody>
      </p:sp>
    </p:spTree>
    <p:extLst>
      <p:ext uri="{BB962C8B-B14F-4D97-AF65-F5344CB8AC3E}">
        <p14:creationId xmlns:p14="http://schemas.microsoft.com/office/powerpoint/2010/main" val="15330076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1998B-D6E5-2C98-980C-37A37DBC2106}"/>
              </a:ext>
            </a:extLst>
          </p:cNvPr>
          <p:cNvSpPr txBox="1"/>
          <p:nvPr/>
        </p:nvSpPr>
        <p:spPr>
          <a:xfrm>
            <a:off x="326571" y="293914"/>
            <a:ext cx="88337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43 — Logging and debugging (python logging library)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Use structured logging and levels (DEBUG/INFO/WARN/ERROR). Send logs to CloudWatch or file.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Example: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logging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logger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logging.getLogger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etl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")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logger.setLevel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logging.DEBUG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Configure handlers to </a:t>
            </a:r>
            <a:r>
              <a:rPr lang="en-IN" dirty="0" err="1"/>
              <a:t>stdout</a:t>
            </a:r>
            <a:r>
              <a:rPr lang="en-IN" dirty="0"/>
              <a:t> and CloudWatch.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meaningful messages and include context fields.</a:t>
            </a:r>
          </a:p>
        </p:txBody>
      </p:sp>
    </p:spTree>
    <p:extLst>
      <p:ext uri="{BB962C8B-B14F-4D97-AF65-F5344CB8AC3E}">
        <p14:creationId xmlns:p14="http://schemas.microsoft.com/office/powerpoint/2010/main" val="1817606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05999B-89B7-9C00-4DAE-A28AF6D5AC1C}"/>
              </a:ext>
            </a:extLst>
          </p:cNvPr>
          <p:cNvSpPr txBox="1"/>
          <p:nvPr/>
        </p:nvSpPr>
        <p:spPr>
          <a:xfrm>
            <a:off x="179614" y="391886"/>
            <a:ext cx="89807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44 — Secrets/credential management (tokens not hardcoding)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Store secrets in AWS Secrets Manager or Parameter Store; fetch at runtime with IAM.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 (concept)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# boto3 client for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secretsmanager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to retrieve secret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Assign least-privilege IAM role to compute.</a:t>
            </a:r>
          </a:p>
          <a:p>
            <a:pPr>
              <a:buFont typeface="+mj-lt"/>
              <a:buAutoNum type="arabicPeriod"/>
            </a:pPr>
            <a:r>
              <a:rPr lang="en-IN" dirty="0"/>
              <a:t>Avoid embedding keys or committing </a:t>
            </a:r>
            <a:r>
              <a:rPr lang="en-IN" dirty="0">
                <a:latin typeface="Courier New" panose="02070309020205020404" pitchFamily="49" charset="0"/>
              </a:rPr>
              <a:t>.env</a:t>
            </a:r>
            <a:r>
              <a:rPr lang="en-IN" dirty="0"/>
              <a:t> to Git.</a:t>
            </a:r>
          </a:p>
        </p:txBody>
      </p:sp>
    </p:spTree>
    <p:extLst>
      <p:ext uri="{BB962C8B-B14F-4D97-AF65-F5344CB8AC3E}">
        <p14:creationId xmlns:p14="http://schemas.microsoft.com/office/powerpoint/2010/main" val="3020013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8ACEF5-2D14-4C2C-F1B2-CC08A5335826}"/>
              </a:ext>
            </a:extLst>
          </p:cNvPr>
          <p:cNvSpPr txBox="1"/>
          <p:nvPr/>
        </p:nvSpPr>
        <p:spPr>
          <a:xfrm>
            <a:off x="146957" y="228600"/>
            <a:ext cx="90133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45 — Parsing JSON (nested vs flat JSON)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Flat JSON has </a:t>
            </a:r>
            <a:r>
              <a:rPr lang="en-IN" dirty="0" err="1"/>
              <a:t>key:value</a:t>
            </a:r>
            <a:r>
              <a:rPr lang="en-IN" dirty="0"/>
              <a:t> at top; nested JSON includes nested objects/arrays requiring flattening.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br>
              <a:rPr lang="en-IN" dirty="0"/>
            </a:br>
            <a:r>
              <a:rPr lang="en-IN" b="1" dirty="0">
                <a:solidFill>
                  <a:srgbClr val="7030A0"/>
                </a:solidFill>
              </a:rPr>
              <a:t>See earlier examples for nested flattening.</a:t>
            </a:r>
          </a:p>
          <a:p>
            <a:pPr>
              <a:buNone/>
            </a:pPr>
            <a:endParaRPr lang="en-IN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Identify nesting patterns.</a:t>
            </a:r>
          </a:p>
          <a:p>
            <a:pPr>
              <a:buFont typeface="+mj-lt"/>
              <a:buAutoNum type="arabicPeriod"/>
            </a:pPr>
            <a:r>
              <a:rPr lang="en-IN" dirty="0"/>
              <a:t>Decide flattening rules (arrays → multiple rows, nested objects → prefixed columns).</a:t>
            </a:r>
          </a:p>
        </p:txBody>
      </p:sp>
    </p:spTree>
    <p:extLst>
      <p:ext uri="{BB962C8B-B14F-4D97-AF65-F5344CB8AC3E}">
        <p14:creationId xmlns:p14="http://schemas.microsoft.com/office/powerpoint/2010/main" val="22599654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41BFF-6355-2E61-B750-C040F75AEB91}"/>
              </a:ext>
            </a:extLst>
          </p:cNvPr>
          <p:cNvSpPr txBox="1"/>
          <p:nvPr/>
        </p:nvSpPr>
        <p:spPr>
          <a:xfrm>
            <a:off x="179614" y="522514"/>
            <a:ext cx="8980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46 — Creating </a:t>
            </a:r>
            <a:r>
              <a:rPr lang="en-IN" b="1" dirty="0" err="1"/>
              <a:t>DataFrames</a:t>
            </a:r>
            <a:r>
              <a:rPr lang="en-IN" b="1" dirty="0"/>
              <a:t> from JSON/</a:t>
            </a:r>
            <a:r>
              <a:rPr lang="en-IN" b="1" dirty="0" err="1"/>
              <a:t>dicts</a:t>
            </a:r>
            <a:endParaRPr lang="en-IN" b="1" dirty="0"/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 err="1">
                <a:latin typeface="Courier New" panose="02070309020205020404" pitchFamily="49" charset="0"/>
              </a:rPr>
              <a:t>pd.DataFrame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list_of_dicts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r>
              <a:rPr lang="en-IN" dirty="0"/>
              <a:t> converts list-like JSON to table.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import pandas as pd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pd.DataFrame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([{"id":1,"name":"Ravi"}])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Provide uniform keys per row.</a:t>
            </a:r>
          </a:p>
          <a:p>
            <a:pPr>
              <a:buFont typeface="+mj-lt"/>
              <a:buAutoNum type="arabicPeriod"/>
            </a:pPr>
            <a:r>
              <a:rPr lang="en-IN" dirty="0"/>
              <a:t>Use </a:t>
            </a:r>
            <a:r>
              <a:rPr lang="en-IN" dirty="0" err="1">
                <a:latin typeface="Courier New" panose="02070309020205020404" pitchFamily="49" charset="0"/>
              </a:rPr>
              <a:t>json_normalize</a:t>
            </a:r>
            <a:r>
              <a:rPr lang="en-IN" dirty="0"/>
              <a:t> for deeply nested JSON.</a:t>
            </a:r>
          </a:p>
        </p:txBody>
      </p:sp>
    </p:spTree>
    <p:extLst>
      <p:ext uri="{BB962C8B-B14F-4D97-AF65-F5344CB8AC3E}">
        <p14:creationId xmlns:p14="http://schemas.microsoft.com/office/powerpoint/2010/main" val="3799137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BF574-8736-1AF3-E23B-F29B339DB57D}"/>
              </a:ext>
            </a:extLst>
          </p:cNvPr>
          <p:cNvSpPr txBox="1"/>
          <p:nvPr/>
        </p:nvSpPr>
        <p:spPr>
          <a:xfrm>
            <a:off x="261257" y="489857"/>
            <a:ext cx="8899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47 — Exception handling (try/except in ETL jobs)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Catch predictable exceptions and decide policy (skip, retry, fail).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br>
              <a:rPr lang="en-IN" dirty="0"/>
            </a:br>
            <a:r>
              <a:rPr lang="en-IN" b="1" dirty="0">
                <a:solidFill>
                  <a:srgbClr val="7030A0"/>
                </a:solidFill>
              </a:rPr>
              <a:t>See earlier try/except + logging examples.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Categorize errors: transient (network) vs permanent (bad schema).</a:t>
            </a:r>
          </a:p>
          <a:p>
            <a:pPr>
              <a:buFont typeface="+mj-lt"/>
              <a:buAutoNum type="arabicPeriod"/>
            </a:pPr>
            <a:r>
              <a:rPr lang="en-IN" dirty="0"/>
              <a:t>Retry transient with backoff, skip/log permanent.</a:t>
            </a:r>
          </a:p>
        </p:txBody>
      </p:sp>
    </p:spTree>
    <p:extLst>
      <p:ext uri="{BB962C8B-B14F-4D97-AF65-F5344CB8AC3E}">
        <p14:creationId xmlns:p14="http://schemas.microsoft.com/office/powerpoint/2010/main" val="39753423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64BE50-0722-882A-7BFC-D897517E59F6}"/>
              </a:ext>
            </a:extLst>
          </p:cNvPr>
          <p:cNvSpPr txBox="1"/>
          <p:nvPr/>
        </p:nvSpPr>
        <p:spPr>
          <a:xfrm>
            <a:off x="244929" y="571500"/>
            <a:ext cx="89153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48 — OS/path operations (reading files in repos)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</a:rPr>
              <a:t>os.path</a:t>
            </a:r>
            <a:r>
              <a:rPr lang="en-US" dirty="0"/>
              <a:t> / </a:t>
            </a:r>
            <a:r>
              <a:rPr lang="en-US" dirty="0" err="1">
                <a:latin typeface="Courier New" panose="02070309020205020404" pitchFamily="49" charset="0"/>
              </a:rPr>
              <a:t>pathlib</a:t>
            </a:r>
            <a:r>
              <a:rPr lang="en-US" dirty="0"/>
              <a:t> to build portable file paths.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from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pathlib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 import Path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base = Path(__file__).parent</a:t>
            </a:r>
          </a:p>
          <a:p>
            <a:pPr rtl="0"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f = base / "data" / "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employees.json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“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Avoid hardcoded separators.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Path</a:t>
            </a:r>
            <a:r>
              <a:rPr lang="en-US" dirty="0"/>
              <a:t> for readability and cross-platform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38131251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D1EC48-F0B6-DAAC-C944-28A30A76AC74}"/>
              </a:ext>
            </a:extLst>
          </p:cNvPr>
          <p:cNvSpPr txBox="1"/>
          <p:nvPr/>
        </p:nvSpPr>
        <p:spPr>
          <a:xfrm>
            <a:off x="277586" y="538843"/>
            <a:ext cx="88827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49 — Practice flattening API responses into </a:t>
            </a:r>
            <a:r>
              <a:rPr lang="en-IN" b="1" dirty="0" err="1"/>
              <a:t>DataFrames</a:t>
            </a:r>
            <a:r>
              <a:rPr lang="en-IN" b="1" dirty="0"/>
              <a:t> (mock Google/Apple API payloads)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Use sample API payloads to design robust flatteners and mapping logic.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</a:t>
            </a:r>
            <a:br>
              <a:rPr lang="en-IN" dirty="0"/>
            </a:br>
            <a:r>
              <a:rPr lang="en-IN" b="1" dirty="0">
                <a:solidFill>
                  <a:srgbClr val="7030A0"/>
                </a:solidFill>
              </a:rPr>
              <a:t>Use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pd.json_normalize</a:t>
            </a:r>
            <a:r>
              <a:rPr lang="en-IN" b="1" dirty="0">
                <a:solidFill>
                  <a:srgbClr val="7030A0"/>
                </a:solidFill>
              </a:rPr>
              <a:t>: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from pandas import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json_normalize</a:t>
            </a: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json_normalize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resp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["employees"],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sep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="_")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 err="1">
                <a:latin typeface="Courier New" panose="02070309020205020404" pitchFamily="49" charset="0"/>
              </a:rPr>
              <a:t>json_normalize</a:t>
            </a:r>
            <a:r>
              <a:rPr lang="en-IN" dirty="0"/>
              <a:t> expands nested objects into columns with separators.</a:t>
            </a:r>
          </a:p>
          <a:p>
            <a:pPr>
              <a:buFont typeface="+mj-lt"/>
              <a:buAutoNum type="arabicPeriod"/>
            </a:pPr>
            <a:r>
              <a:rPr lang="en-IN" dirty="0"/>
              <a:t>Post-process to cast types and rename.</a:t>
            </a:r>
          </a:p>
        </p:txBody>
      </p:sp>
    </p:spTree>
    <p:extLst>
      <p:ext uri="{BB962C8B-B14F-4D97-AF65-F5344CB8AC3E}">
        <p14:creationId xmlns:p14="http://schemas.microsoft.com/office/powerpoint/2010/main" val="2945088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4FBDE4-F800-2D96-9404-7A8291BCBDE0}"/>
              </a:ext>
            </a:extLst>
          </p:cNvPr>
          <p:cNvSpPr txBox="1"/>
          <p:nvPr/>
        </p:nvSpPr>
        <p:spPr>
          <a:xfrm>
            <a:off x="261257" y="489857"/>
            <a:ext cx="88990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50 — REST API calls (using requests) &amp; Transformations (apply, map, lambda, column reordering)</a:t>
            </a:r>
          </a:p>
          <a:p>
            <a:pPr>
              <a:buNone/>
            </a:pPr>
            <a:r>
              <a:rPr lang="en-IN" b="1" dirty="0"/>
              <a:t>Definition</a:t>
            </a:r>
            <a:br>
              <a:rPr lang="en-IN" dirty="0"/>
            </a:br>
            <a:r>
              <a:rPr lang="en-IN" dirty="0"/>
              <a:t>Fetch data via </a:t>
            </a:r>
            <a:r>
              <a:rPr lang="en-IN" dirty="0">
                <a:latin typeface="Courier New" panose="02070309020205020404" pitchFamily="49" charset="0"/>
              </a:rPr>
              <a:t>requests</a:t>
            </a:r>
            <a:r>
              <a:rPr lang="en-IN" dirty="0"/>
              <a:t>, then use pandas </a:t>
            </a:r>
            <a:r>
              <a:rPr lang="en-IN" dirty="0">
                <a:latin typeface="Courier New" panose="02070309020205020404" pitchFamily="49" charset="0"/>
              </a:rPr>
              <a:t>apply</a:t>
            </a:r>
            <a:r>
              <a:rPr lang="en-IN" dirty="0"/>
              <a:t>/</a:t>
            </a:r>
            <a:r>
              <a:rPr lang="en-IN" dirty="0">
                <a:latin typeface="Courier New" panose="02070309020205020404" pitchFamily="49" charset="0"/>
              </a:rPr>
              <a:t>map</a:t>
            </a:r>
            <a:r>
              <a:rPr lang="en-IN" dirty="0"/>
              <a:t> to transform columns.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Example:</a:t>
            </a:r>
            <a:endParaRPr lang="en-IN" dirty="0"/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["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role_up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"]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["role"].map(lambda r: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r.upper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())</a:t>
            </a:r>
          </a:p>
          <a:p>
            <a:pPr rtl="0">
              <a:buNone/>
            </a:pP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df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[["id","name","</a:t>
            </a:r>
            <a:r>
              <a:rPr lang="en-IN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role_up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"]]</a:t>
            </a:r>
          </a:p>
          <a:p>
            <a:pPr rtl="0">
              <a:buNone/>
            </a:pPr>
            <a:endParaRPr lang="en-IN" b="1" dirty="0">
              <a:solidFill>
                <a:srgbClr val="7030A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Step-by-step explanation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map</a:t>
            </a:r>
            <a:r>
              <a:rPr lang="en-IN" dirty="0"/>
              <a:t>/</a:t>
            </a:r>
            <a:r>
              <a:rPr lang="en-IN" dirty="0">
                <a:latin typeface="Courier New" panose="02070309020205020404" pitchFamily="49" charset="0"/>
              </a:rPr>
              <a:t>apply</a:t>
            </a:r>
            <a:r>
              <a:rPr lang="en-IN" dirty="0"/>
              <a:t> vectorize transformations.</a:t>
            </a:r>
          </a:p>
          <a:p>
            <a:pPr>
              <a:buFont typeface="+mj-lt"/>
              <a:buAutoNum type="arabicPeriod"/>
            </a:pPr>
            <a:r>
              <a:rPr lang="en-IN" dirty="0"/>
              <a:t>Reorder columns for target schema before export.</a:t>
            </a:r>
          </a:p>
        </p:txBody>
      </p:sp>
    </p:spTree>
    <p:extLst>
      <p:ext uri="{BB962C8B-B14F-4D97-AF65-F5344CB8AC3E}">
        <p14:creationId xmlns:p14="http://schemas.microsoft.com/office/powerpoint/2010/main" val="28558756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8E52B6-F8FA-C2B6-3F15-8A3759BA4FB8}"/>
              </a:ext>
            </a:extLst>
          </p:cNvPr>
          <p:cNvSpPr txBox="1"/>
          <p:nvPr/>
        </p:nvSpPr>
        <p:spPr>
          <a:xfrm>
            <a:off x="261257" y="843677"/>
            <a:ext cx="88337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51 — Export to CSV → S3 (simulate persistence step)</a:t>
            </a:r>
          </a:p>
          <a:p>
            <a:pPr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Write local CSV then upload, or stream directly to S3.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  <a:br>
              <a:rPr lang="en-US" dirty="0"/>
            </a:br>
            <a:r>
              <a:rPr lang="en-US" b="1" dirty="0">
                <a:solidFill>
                  <a:srgbClr val="7030A0"/>
                </a:solidFill>
              </a:rPr>
              <a:t>See earlier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StringIO</a:t>
            </a:r>
            <a:r>
              <a:rPr lang="en-US" b="1" dirty="0">
                <a:solidFill>
                  <a:srgbClr val="7030A0"/>
                </a:solidFill>
              </a:rPr>
              <a:t> +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</a:rPr>
              <a:t>boto3.put_object</a:t>
            </a:r>
            <a:r>
              <a:rPr lang="en-US" b="1" dirty="0">
                <a:solidFill>
                  <a:srgbClr val="7030A0"/>
                </a:solidFill>
              </a:rPr>
              <a:t> pattern.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Step-by-step explanation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 large data, write chunked or use multipart upload.</a:t>
            </a:r>
          </a:p>
          <a:p>
            <a:pPr>
              <a:buFont typeface="+mj-lt"/>
              <a:buAutoNum type="arabicPeriod"/>
            </a:pPr>
            <a:r>
              <a:rPr lang="en-US" dirty="0"/>
              <a:t>Validate upload (</a:t>
            </a:r>
            <a:r>
              <a:rPr lang="en-US" dirty="0" err="1"/>
              <a:t>head_object</a:t>
            </a:r>
            <a:r>
              <a:rPr lang="en-US" dirty="0"/>
              <a:t>) and log ETag.</a:t>
            </a:r>
          </a:p>
        </p:txBody>
      </p:sp>
    </p:spTree>
    <p:extLst>
      <p:ext uri="{BB962C8B-B14F-4D97-AF65-F5344CB8AC3E}">
        <p14:creationId xmlns:p14="http://schemas.microsoft.com/office/powerpoint/2010/main" val="35751656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</TotalTime>
  <Words>4903</Words>
  <Application>Microsoft Office PowerPoint</Application>
  <PresentationFormat>Widescreen</PresentationFormat>
  <Paragraphs>642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Courier New</vt:lpstr>
      <vt:lpstr>Trebuchet MS</vt:lpstr>
      <vt:lpstr>Wingdings 3</vt:lpstr>
      <vt:lpstr>Facet</vt:lpstr>
      <vt:lpstr>Python ETL &amp; AWS Data Pipeline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2</cp:revision>
  <dcterms:created xsi:type="dcterms:W3CDTF">2025-11-03T08:56:39Z</dcterms:created>
  <dcterms:modified xsi:type="dcterms:W3CDTF">2025-11-03T10:23:46Z</dcterms:modified>
</cp:coreProperties>
</file>